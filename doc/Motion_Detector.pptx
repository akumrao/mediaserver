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D508B4-ACF7-4CAC-9F32-ADE76A873F2D}">
  <a:tblStyle styleId="{04D508B4-ACF7-4CAC-9F32-ADE76A873F2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slide" Target="slides/slide18.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IN" sz="1600" u="sng"/>
              <a:t>Architecture Diagram</a:t>
            </a:r>
            <a:r>
              <a:rPr lang="en-IN" sz="1600"/>
              <a:t>:</a:t>
            </a:r>
            <a:endParaRPr sz="16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100"/>
              <a:buNone/>
            </a:pPr>
            <a:r>
              <a:t/>
            </a:r>
            <a:endParaRPr/>
          </a:p>
          <a:p>
            <a:pPr indent="0" lvl="0" marL="457200" rtl="0" algn="l">
              <a:lnSpc>
                <a:spcPct val="100000"/>
              </a:lnSpc>
              <a:spcBef>
                <a:spcPts val="0"/>
              </a:spcBef>
              <a:spcAft>
                <a:spcPts val="0"/>
              </a:spcAft>
              <a:buSzPts val="1100"/>
              <a:buNone/>
            </a:pPr>
            <a:r>
              <a:t/>
            </a:r>
            <a:endParaRPr/>
          </a:p>
          <a:p>
            <a:pPr indent="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bitbucket.org/webrtc-solution/mediaserver/src/provigil/src/motiondetecti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IN"/>
              <a:t>Motion Detector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ctrTitle"/>
          </p:nvPr>
        </p:nvSpPr>
        <p:spPr>
          <a:xfrm>
            <a:off x="311700" y="-644725"/>
            <a:ext cx="8599800" cy="494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990"/>
              <a:buNone/>
            </a:pPr>
            <a:r>
              <a:rPr lang="en-IN" sz="3280"/>
              <a:t>MD with Open CV::Contour and Provigil Algo</a:t>
            </a:r>
            <a:endParaRPr sz="3280"/>
          </a:p>
        </p:txBody>
      </p:sp>
      <p:pic>
        <p:nvPicPr>
          <p:cNvPr id="60" name="Google Shape;60;p14"/>
          <p:cNvPicPr preferRelativeResize="0"/>
          <p:nvPr/>
        </p:nvPicPr>
        <p:blipFill rotWithShape="1">
          <a:blip r:embed="rId3">
            <a:alphaModFix/>
          </a:blip>
          <a:srcRect b="0" l="0" r="0" t="0"/>
          <a:stretch/>
        </p:blipFill>
        <p:spPr>
          <a:xfrm>
            <a:off x="152400" y="222075"/>
            <a:ext cx="8602123" cy="47690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ctrTitle"/>
          </p:nvPr>
        </p:nvSpPr>
        <p:spPr>
          <a:xfrm>
            <a:off x="311700" y="143275"/>
            <a:ext cx="8520600" cy="6591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IN"/>
              <a:t>MD</a:t>
            </a:r>
            <a:endParaRPr/>
          </a:p>
        </p:txBody>
      </p:sp>
      <p:sp>
        <p:nvSpPr>
          <p:cNvPr id="66" name="Google Shape;66;p15"/>
          <p:cNvSpPr txBox="1"/>
          <p:nvPr>
            <p:ph idx="1" type="subTitle"/>
          </p:nvPr>
        </p:nvSpPr>
        <p:spPr>
          <a:xfrm>
            <a:off x="311700" y="859650"/>
            <a:ext cx="8520600" cy="902700"/>
          </a:xfrm>
          <a:prstGeom prst="rect">
            <a:avLst/>
          </a:prstGeom>
          <a:noFill/>
          <a:ln>
            <a:noFill/>
          </a:ln>
        </p:spPr>
        <p:txBody>
          <a:bodyPr anchorCtr="0" anchor="t" bIns="91425" lIns="91425" spcFirstLastPara="1" rIns="91425" wrap="square" tIns="91425">
            <a:normAutofit fontScale="62500" lnSpcReduction="20000"/>
          </a:bodyPr>
          <a:lstStyle/>
          <a:p>
            <a:pPr indent="-313055" lvl="0" marL="457200" rtl="0" algn="l">
              <a:lnSpc>
                <a:spcPct val="100000"/>
              </a:lnSpc>
              <a:spcBef>
                <a:spcPts val="0"/>
              </a:spcBef>
              <a:spcAft>
                <a:spcPts val="0"/>
              </a:spcAft>
              <a:buSzPct val="100000"/>
              <a:buAutoNum type="arabicPeriod"/>
            </a:pPr>
            <a:r>
              <a:rPr lang="en-IN"/>
              <a:t> Average occupancy for last 3 frames</a:t>
            </a:r>
            <a:endParaRPr/>
          </a:p>
          <a:p>
            <a:pPr indent="-313055" lvl="0" marL="457200" rtl="0" algn="l">
              <a:lnSpc>
                <a:spcPct val="100000"/>
              </a:lnSpc>
              <a:spcBef>
                <a:spcPts val="0"/>
              </a:spcBef>
              <a:spcAft>
                <a:spcPts val="0"/>
              </a:spcAft>
              <a:buSzPct val="100000"/>
              <a:buAutoNum type="arabicPeriod"/>
            </a:pPr>
            <a:r>
              <a:rPr lang="en-IN"/>
              <a:t>Open CV::findcontour</a:t>
            </a:r>
            <a:endParaRPr/>
          </a:p>
          <a:p>
            <a:pPr indent="-313055" lvl="0" marL="457200" rtl="0" algn="l">
              <a:lnSpc>
                <a:spcPct val="100000"/>
              </a:lnSpc>
              <a:spcBef>
                <a:spcPts val="0"/>
              </a:spcBef>
              <a:spcAft>
                <a:spcPts val="0"/>
              </a:spcAft>
              <a:buSzPct val="100000"/>
              <a:buAutoNum type="arabicPeriod"/>
            </a:pPr>
            <a:r>
              <a:rPr lang="en-IN"/>
              <a:t> Vector Direction</a:t>
            </a:r>
            <a:endParaRPr/>
          </a:p>
          <a:p>
            <a:pPr indent="0" lvl="0" marL="0" rtl="0" algn="l">
              <a:lnSpc>
                <a:spcPct val="100000"/>
              </a:lnSpc>
              <a:spcBef>
                <a:spcPts val="0"/>
              </a:spcBef>
              <a:spcAft>
                <a:spcPts val="0"/>
              </a:spcAft>
              <a:buSzPct val="160000"/>
              <a:buNone/>
            </a:pPr>
            <a:r>
              <a:t/>
            </a:r>
            <a:endParaRPr/>
          </a:p>
        </p:txBody>
      </p:sp>
      <p:sp>
        <p:nvSpPr>
          <p:cNvPr id="67" name="Google Shape;67;p15"/>
          <p:cNvSpPr/>
          <p:nvPr/>
        </p:nvSpPr>
        <p:spPr>
          <a:xfrm>
            <a:off x="3507300" y="1394550"/>
            <a:ext cx="1299600" cy="1205700"/>
          </a:xfrm>
          <a:prstGeom prst="ellipse">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1 1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1 1</a:t>
            </a:r>
            <a:endParaRPr b="0" i="0" sz="1400" u="none" cap="none" strike="noStrike">
              <a:solidFill>
                <a:srgbClr val="000000"/>
              </a:solidFill>
              <a:latin typeface="Arial"/>
              <a:ea typeface="Arial"/>
              <a:cs typeface="Arial"/>
              <a:sym typeface="Arial"/>
            </a:endParaRPr>
          </a:p>
        </p:txBody>
      </p:sp>
      <p:sp>
        <p:nvSpPr>
          <p:cNvPr id="68" name="Google Shape;68;p15"/>
          <p:cNvSpPr/>
          <p:nvPr/>
        </p:nvSpPr>
        <p:spPr>
          <a:xfrm>
            <a:off x="4426925" y="1359300"/>
            <a:ext cx="1299600" cy="1205700"/>
          </a:xfrm>
          <a:prstGeom prst="ellipse">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1ttt   1 1 1      1  1</a:t>
            </a:r>
            <a:endParaRPr b="0" i="0" sz="1400" u="none" cap="none" strike="noStrike">
              <a:solidFill>
                <a:srgbClr val="000000"/>
              </a:solidFill>
              <a:latin typeface="Arial"/>
              <a:ea typeface="Arial"/>
              <a:cs typeface="Arial"/>
              <a:sym typeface="Arial"/>
            </a:endParaRPr>
          </a:p>
        </p:txBody>
      </p:sp>
      <p:sp>
        <p:nvSpPr>
          <p:cNvPr id="69" name="Google Shape;69;p15"/>
          <p:cNvSpPr/>
          <p:nvPr/>
        </p:nvSpPr>
        <p:spPr>
          <a:xfrm>
            <a:off x="4421700" y="1474950"/>
            <a:ext cx="555900" cy="978600"/>
          </a:xfrm>
          <a:prstGeom prst="arc">
            <a:avLst>
              <a:gd fmla="val 16200000" name="adj1"/>
              <a:gd fmla="val 15698467"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2 2 2 2</a:t>
            </a:r>
            <a:endParaRPr b="0" i="0" sz="1400" u="none" cap="none" strike="noStrike">
              <a:solidFill>
                <a:srgbClr val="000000"/>
              </a:solidFill>
              <a:latin typeface="Arial"/>
              <a:ea typeface="Arial"/>
              <a:cs typeface="Arial"/>
              <a:sym typeface="Arial"/>
            </a:endParaRPr>
          </a:p>
        </p:txBody>
      </p:sp>
      <p:graphicFrame>
        <p:nvGraphicFramePr>
          <p:cNvPr id="70" name="Google Shape;70;p15"/>
          <p:cNvGraphicFramePr/>
          <p:nvPr/>
        </p:nvGraphicFramePr>
        <p:xfrm>
          <a:off x="-84100" y="1909175"/>
          <a:ext cx="3000000" cy="3000000"/>
        </p:xfrm>
        <a:graphic>
          <a:graphicData uri="http://schemas.openxmlformats.org/drawingml/2006/table">
            <a:tbl>
              <a:tblPr>
                <a:noFill/>
                <a:tableStyleId>{04D508B4-ACF7-4CAC-9F32-ADE76A873F2D}</a:tableStyleId>
              </a:tblPr>
              <a:tblGrid>
                <a:gridCol w="382850"/>
                <a:gridCol w="382850"/>
                <a:gridCol w="382850"/>
                <a:gridCol w="382850"/>
                <a:gridCol w="382850"/>
                <a:gridCol w="382850"/>
                <a:gridCol w="382850"/>
                <a:gridCol w="382850"/>
              </a:tblGrid>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graphicFrame>
        <p:nvGraphicFramePr>
          <p:cNvPr id="71" name="Google Shape;71;p15"/>
          <p:cNvGraphicFramePr/>
          <p:nvPr/>
        </p:nvGraphicFramePr>
        <p:xfrm>
          <a:off x="6103425" y="1762280"/>
          <a:ext cx="3000000" cy="3000000"/>
        </p:xfrm>
        <a:graphic>
          <a:graphicData uri="http://schemas.openxmlformats.org/drawingml/2006/table">
            <a:tbl>
              <a:tblPr>
                <a:noFill/>
                <a:tableStyleId>{04D508B4-ACF7-4CAC-9F32-ADE76A873F2D}</a:tableStyleId>
              </a:tblPr>
              <a:tblGrid>
                <a:gridCol w="382850"/>
                <a:gridCol w="382850"/>
                <a:gridCol w="382850"/>
                <a:gridCol w="382850"/>
                <a:gridCol w="382850"/>
                <a:gridCol w="382850"/>
                <a:gridCol w="382850"/>
                <a:gridCol w="382850"/>
              </a:tblGrid>
              <a:tr h="4204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4204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4204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420400">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420400">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4204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4204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42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graphicFrame>
        <p:nvGraphicFramePr>
          <p:cNvPr id="72" name="Google Shape;72;p15"/>
          <p:cNvGraphicFramePr/>
          <p:nvPr/>
        </p:nvGraphicFramePr>
        <p:xfrm>
          <a:off x="2978700" y="2605950"/>
          <a:ext cx="3000000" cy="3000000"/>
        </p:xfrm>
        <a:graphic>
          <a:graphicData uri="http://schemas.openxmlformats.org/drawingml/2006/table">
            <a:tbl>
              <a:tblPr>
                <a:noFill/>
                <a:tableStyleId>{04D508B4-ACF7-4CAC-9F32-ADE76A873F2D}</a:tableStyleId>
              </a:tblPr>
              <a:tblGrid>
                <a:gridCol w="382850"/>
                <a:gridCol w="382850"/>
                <a:gridCol w="382850"/>
                <a:gridCol w="382850"/>
                <a:gridCol w="382850"/>
                <a:gridCol w="382850"/>
                <a:gridCol w="382850"/>
                <a:gridCol w="382850"/>
              </a:tblGrid>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ctrTitle"/>
          </p:nvPr>
        </p:nvSpPr>
        <p:spPr>
          <a:xfrm>
            <a:off x="311700" y="146975"/>
            <a:ext cx="8520600" cy="792600"/>
          </a:xfrm>
          <a:prstGeom prst="rect">
            <a:avLst/>
          </a:prstGeom>
          <a:noFill/>
          <a:ln>
            <a:noFill/>
          </a:ln>
        </p:spPr>
        <p:txBody>
          <a:bodyPr anchorCtr="0" anchor="b" bIns="91425" lIns="91425" spcFirstLastPara="1" rIns="91425" wrap="square" tIns="91425">
            <a:normAutofit/>
          </a:bodyPr>
          <a:lstStyle/>
          <a:p>
            <a:pPr indent="0" lvl="0" marL="457200" rtl="0" algn="l">
              <a:lnSpc>
                <a:spcPct val="100000"/>
              </a:lnSpc>
              <a:spcBef>
                <a:spcPts val="0"/>
              </a:spcBef>
              <a:spcAft>
                <a:spcPts val="0"/>
              </a:spcAft>
              <a:buSzPts val="5200"/>
              <a:buNone/>
            </a:pPr>
            <a:r>
              <a:rPr lang="en-IN" sz="2800">
                <a:solidFill>
                  <a:schemeClr val="dk2"/>
                </a:solidFill>
              </a:rPr>
              <a:t>Open CV::findcontour</a:t>
            </a:r>
            <a:endParaRPr/>
          </a:p>
        </p:txBody>
      </p:sp>
      <p:graphicFrame>
        <p:nvGraphicFramePr>
          <p:cNvPr id="78" name="Google Shape;78;p16"/>
          <p:cNvGraphicFramePr/>
          <p:nvPr/>
        </p:nvGraphicFramePr>
        <p:xfrm>
          <a:off x="2140500" y="1386750"/>
          <a:ext cx="3000000" cy="3000000"/>
        </p:xfrm>
        <a:graphic>
          <a:graphicData uri="http://schemas.openxmlformats.org/drawingml/2006/table">
            <a:tbl>
              <a:tblPr>
                <a:noFill/>
                <a:tableStyleId>{04D508B4-ACF7-4CAC-9F32-ADE76A873F2D}</a:tableStyleId>
              </a:tblPr>
              <a:tblGrid>
                <a:gridCol w="382850"/>
                <a:gridCol w="382850"/>
                <a:gridCol w="382850"/>
                <a:gridCol w="382850"/>
                <a:gridCol w="382850"/>
                <a:gridCol w="382850"/>
                <a:gridCol w="382850"/>
                <a:gridCol w="382850"/>
              </a:tblGrid>
              <a:tr h="3174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R cap="flat" cmpd="sng" w="9525">
                      <a:solidFill>
                        <a:srgbClr val="FF0000"/>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L cap="flat" cmpd="sng" w="9525">
                      <a:solidFill>
                        <a:srgbClr val="FF0000"/>
                      </a:solidFill>
                      <a:prstDash val="solid"/>
                      <a:round/>
                      <a:headEnd len="sm" w="sm" type="none"/>
                      <a:tailEnd len="sm" w="sm" type="none"/>
                    </a:lnL>
                    <a:lnT cap="flat" cmpd="sng" w="9525">
                      <a:solidFill>
                        <a:srgbClr val="FF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L cap="flat" cmpd="sng" w="9525">
                      <a:solidFill>
                        <a:srgbClr val="FF0000"/>
                      </a:solidFill>
                      <a:prstDash val="solid"/>
                      <a:round/>
                      <a:headEnd len="sm" w="sm" type="none"/>
                      <a:tailEnd len="sm" w="sm" type="none"/>
                    </a:lnL>
                  </a:tcPr>
                </a:tc>
              </a:tr>
              <a:tr h="3174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R cap="flat" cmpd="sng" w="9525">
                      <a:solidFill>
                        <a:srgbClr val="FF0000"/>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lnL cap="flat" cmpd="sng" w="9525">
                      <a:solidFill>
                        <a:srgbClr val="FF0000"/>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lnR cap="flat" cmpd="sng" w="9525">
                      <a:solidFill>
                        <a:srgbClr val="FF0000"/>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L cap="flat" cmpd="sng" w="9525">
                      <a:solidFill>
                        <a:srgbClr val="FF0000"/>
                      </a:solidFill>
                      <a:prstDash val="solid"/>
                      <a:round/>
                      <a:headEnd len="sm" w="sm" type="none"/>
                      <a:tailEnd len="sm" w="sm" type="none"/>
                    </a:lnL>
                  </a:tcPr>
                </a:tc>
              </a:tr>
              <a:tr h="3174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R cap="flat" cmpd="sng" w="9525">
                      <a:solidFill>
                        <a:srgbClr val="FF0000"/>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lnL cap="flat" cmpd="sng" w="9525">
                      <a:solidFill>
                        <a:srgbClr val="FF0000"/>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lnR cap="flat" cmpd="sng" w="9525">
                      <a:solidFill>
                        <a:srgbClr val="FF0000"/>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L cap="flat" cmpd="sng" w="9525">
                      <a:solidFill>
                        <a:srgbClr val="FF0000"/>
                      </a:solidFill>
                      <a:prstDash val="solid"/>
                      <a:round/>
                      <a:headEnd len="sm" w="sm" type="none"/>
                      <a:tailEnd len="sm" w="sm" type="none"/>
                    </a:lnL>
                  </a:tcPr>
                </a:tc>
              </a:tr>
              <a:tr h="3174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R cap="flat" cmpd="sng" w="9525">
                      <a:solidFill>
                        <a:srgbClr val="FF0000"/>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L cap="flat" cmpd="sng" w="9525">
                      <a:solidFill>
                        <a:srgbClr val="FF0000"/>
                      </a:solidFill>
                      <a:prstDash val="solid"/>
                      <a:round/>
                      <a:headEnd len="sm" w="sm" type="none"/>
                      <a:tailEnd len="sm" w="sm" type="none"/>
                    </a:lnL>
                    <a:lnB cap="flat" cmpd="sng" w="9525">
                      <a:solidFill>
                        <a:srgbClr val="FF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1</a:t>
                      </a:r>
                      <a:endParaRPr sz="1400" u="none" cap="none" strike="noStrike"/>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R cap="flat" cmpd="sng" w="9525">
                      <a:solidFill>
                        <a:srgbClr val="FF0000"/>
                      </a:solidFill>
                      <a:prstDash val="solid"/>
                      <a:round/>
                      <a:headEnd len="sm" w="sm" type="none"/>
                      <a:tailEnd len="sm" w="sm" type="none"/>
                    </a:lnR>
                    <a:lnB cap="flat" cmpd="sng" w="9525">
                      <a:solidFill>
                        <a:srgbClr val="FF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L cap="flat" cmpd="sng" w="9525">
                      <a:solidFill>
                        <a:srgbClr val="FF0000"/>
                      </a:solidFill>
                      <a:prstDash val="solid"/>
                      <a:round/>
                      <a:headEnd len="sm" w="sm" type="none"/>
                      <a:tailEnd len="sm" w="sm" type="none"/>
                    </a:lnL>
                  </a:tcPr>
                </a:tc>
              </a:tr>
              <a:tr h="3174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r>
              <a:tr h="317425">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0</a:t>
                      </a:r>
                      <a:endParaRPr sz="1400" u="none" cap="none" strike="noStrike"/>
                    </a:p>
                  </a:txBody>
                  <a:tcPr marT="91425" marB="91425" marR="91425" marL="91425"/>
                </a:tc>
              </a:tr>
            </a:tbl>
          </a:graphicData>
        </a:graphic>
      </p:graphicFrame>
      <p:sp>
        <p:nvSpPr>
          <p:cNvPr id="79" name="Google Shape;79;p16"/>
          <p:cNvSpPr txBox="1"/>
          <p:nvPr/>
        </p:nvSpPr>
        <p:spPr>
          <a:xfrm>
            <a:off x="4531800" y="346025"/>
            <a:ext cx="2873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Tracking of moving ball with Binary CV::MAT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ctrTitle"/>
          </p:nvPr>
        </p:nvSpPr>
        <p:spPr>
          <a:xfrm>
            <a:off x="311700" y="147150"/>
            <a:ext cx="8520600" cy="6726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8737"/>
              <a:buNone/>
            </a:pPr>
            <a:r>
              <a:rPr lang="en-IN"/>
              <a:t>Vector Direction</a:t>
            </a:r>
            <a:endParaRPr sz="4866"/>
          </a:p>
        </p:txBody>
      </p:sp>
      <p:sp>
        <p:nvSpPr>
          <p:cNvPr id="85" name="Google Shape;85;p17"/>
          <p:cNvSpPr/>
          <p:nvPr/>
        </p:nvSpPr>
        <p:spPr>
          <a:xfrm>
            <a:off x="2312475" y="1464575"/>
            <a:ext cx="3559800" cy="3678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6" name="Google Shape;86;p17"/>
          <p:cNvCxnSpPr>
            <a:stCxn id="85" idx="2"/>
          </p:cNvCxnSpPr>
          <p:nvPr/>
        </p:nvCxnSpPr>
        <p:spPr>
          <a:xfrm>
            <a:off x="2312475" y="3304025"/>
            <a:ext cx="3559800" cy="0"/>
          </a:xfrm>
          <a:prstGeom prst="straightConnector1">
            <a:avLst/>
          </a:prstGeom>
          <a:noFill/>
          <a:ln cap="flat" cmpd="sng" w="9525">
            <a:solidFill>
              <a:schemeClr val="dk2"/>
            </a:solidFill>
            <a:prstDash val="solid"/>
            <a:round/>
            <a:headEnd len="sm" w="sm" type="none"/>
            <a:tailEnd len="sm" w="sm" type="none"/>
          </a:ln>
        </p:spPr>
      </p:cxnSp>
      <p:cxnSp>
        <p:nvCxnSpPr>
          <p:cNvPr id="87" name="Google Shape;87;p17"/>
          <p:cNvCxnSpPr>
            <a:stCxn id="85" idx="4"/>
          </p:cNvCxnSpPr>
          <p:nvPr/>
        </p:nvCxnSpPr>
        <p:spPr>
          <a:xfrm rot="10800000">
            <a:off x="4092375" y="1464575"/>
            <a:ext cx="0" cy="3678900"/>
          </a:xfrm>
          <a:prstGeom prst="straightConnector1">
            <a:avLst/>
          </a:prstGeom>
          <a:noFill/>
          <a:ln cap="flat" cmpd="sng" w="9525">
            <a:solidFill>
              <a:schemeClr val="dk2"/>
            </a:solidFill>
            <a:prstDash val="solid"/>
            <a:round/>
            <a:headEnd len="sm" w="sm" type="none"/>
            <a:tailEnd len="sm" w="sm" type="none"/>
          </a:ln>
        </p:spPr>
      </p:cxnSp>
      <p:cxnSp>
        <p:nvCxnSpPr>
          <p:cNvPr id="88" name="Google Shape;88;p17"/>
          <p:cNvCxnSpPr>
            <a:stCxn id="85" idx="3"/>
            <a:endCxn id="85" idx="7"/>
          </p:cNvCxnSpPr>
          <p:nvPr/>
        </p:nvCxnSpPr>
        <p:spPr>
          <a:xfrm flipH="1" rot="10800000">
            <a:off x="2833796" y="2003413"/>
            <a:ext cx="2517300" cy="2601300"/>
          </a:xfrm>
          <a:prstGeom prst="straightConnector1">
            <a:avLst/>
          </a:prstGeom>
          <a:noFill/>
          <a:ln cap="flat" cmpd="sng" w="9525">
            <a:solidFill>
              <a:schemeClr val="dk2"/>
            </a:solidFill>
            <a:prstDash val="solid"/>
            <a:round/>
            <a:headEnd len="sm" w="sm" type="none"/>
            <a:tailEnd len="sm" w="sm" type="none"/>
          </a:ln>
        </p:spPr>
      </p:cxnSp>
      <p:cxnSp>
        <p:nvCxnSpPr>
          <p:cNvPr id="89" name="Google Shape;89;p17"/>
          <p:cNvCxnSpPr>
            <a:stCxn id="85" idx="1"/>
            <a:endCxn id="85" idx="5"/>
          </p:cNvCxnSpPr>
          <p:nvPr/>
        </p:nvCxnSpPr>
        <p:spPr>
          <a:xfrm>
            <a:off x="2833796" y="2003337"/>
            <a:ext cx="2517300" cy="2601300"/>
          </a:xfrm>
          <a:prstGeom prst="straightConnector1">
            <a:avLst/>
          </a:prstGeom>
          <a:noFill/>
          <a:ln cap="flat" cmpd="sng" w="9525">
            <a:solidFill>
              <a:schemeClr val="dk2"/>
            </a:solidFill>
            <a:prstDash val="solid"/>
            <a:round/>
            <a:headEnd len="sm" w="sm" type="none"/>
            <a:tailEnd len="sm" w="sm" type="none"/>
          </a:ln>
        </p:spPr>
      </p:cxnSp>
      <p:sp>
        <p:nvSpPr>
          <p:cNvPr id="90" name="Google Shape;90;p17"/>
          <p:cNvSpPr txBox="1"/>
          <p:nvPr/>
        </p:nvSpPr>
        <p:spPr>
          <a:xfrm>
            <a:off x="6103525" y="3097300"/>
            <a:ext cx="287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91" name="Google Shape;91;p17"/>
          <p:cNvSpPr txBox="1"/>
          <p:nvPr/>
        </p:nvSpPr>
        <p:spPr>
          <a:xfrm>
            <a:off x="5479850" y="1842975"/>
            <a:ext cx="427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45</a:t>
            </a:r>
            <a:endParaRPr b="0" i="0" sz="1400" u="none" cap="none" strike="noStrike">
              <a:solidFill>
                <a:srgbClr val="000000"/>
              </a:solidFill>
              <a:latin typeface="Arial"/>
              <a:ea typeface="Arial"/>
              <a:cs typeface="Arial"/>
              <a:sym typeface="Arial"/>
            </a:endParaRPr>
          </a:p>
        </p:txBody>
      </p:sp>
      <p:sp>
        <p:nvSpPr>
          <p:cNvPr id="92" name="Google Shape;92;p17"/>
          <p:cNvSpPr txBox="1"/>
          <p:nvPr/>
        </p:nvSpPr>
        <p:spPr>
          <a:xfrm>
            <a:off x="1569675" y="3146375"/>
            <a:ext cx="560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180</a:t>
            </a:r>
            <a:endParaRPr b="0" i="0" sz="1400" u="none" cap="none" strike="noStrike">
              <a:solidFill>
                <a:srgbClr val="000000"/>
              </a:solidFill>
              <a:latin typeface="Arial"/>
              <a:ea typeface="Arial"/>
              <a:cs typeface="Arial"/>
              <a:sym typeface="Arial"/>
            </a:endParaRPr>
          </a:p>
        </p:txBody>
      </p:sp>
      <p:sp>
        <p:nvSpPr>
          <p:cNvPr id="93" name="Google Shape;93;p17"/>
          <p:cNvSpPr txBox="1"/>
          <p:nvPr/>
        </p:nvSpPr>
        <p:spPr>
          <a:xfrm>
            <a:off x="5532075" y="4365575"/>
            <a:ext cx="560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315</a:t>
            </a:r>
            <a:endParaRPr b="0" i="0" sz="1400" u="none" cap="none" strike="noStrike">
              <a:solidFill>
                <a:srgbClr val="000000"/>
              </a:solidFill>
              <a:latin typeface="Arial"/>
              <a:ea typeface="Arial"/>
              <a:cs typeface="Arial"/>
              <a:sym typeface="Arial"/>
            </a:endParaRPr>
          </a:p>
        </p:txBody>
      </p:sp>
      <p:sp>
        <p:nvSpPr>
          <p:cNvPr id="94" name="Google Shape;94;p17"/>
          <p:cNvSpPr txBox="1"/>
          <p:nvPr/>
        </p:nvSpPr>
        <p:spPr>
          <a:xfrm>
            <a:off x="3879650" y="1004775"/>
            <a:ext cx="427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90</a:t>
            </a:r>
            <a:endParaRPr b="0" i="0" sz="1400" u="none" cap="none" strike="noStrike">
              <a:solidFill>
                <a:srgbClr val="000000"/>
              </a:solidFill>
              <a:latin typeface="Arial"/>
              <a:ea typeface="Arial"/>
              <a:cs typeface="Arial"/>
              <a:sym typeface="Arial"/>
            </a:endParaRPr>
          </a:p>
        </p:txBody>
      </p:sp>
      <p:sp>
        <p:nvSpPr>
          <p:cNvPr id="95" name="Google Shape;95;p17"/>
          <p:cNvSpPr txBox="1"/>
          <p:nvPr/>
        </p:nvSpPr>
        <p:spPr>
          <a:xfrm>
            <a:off x="2222450" y="1766775"/>
            <a:ext cx="560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IN" sz="1400" u="none" cap="none" strike="noStrike">
                <a:solidFill>
                  <a:srgbClr val="000000"/>
                </a:solidFill>
                <a:latin typeface="Arial"/>
                <a:ea typeface="Arial"/>
                <a:cs typeface="Arial"/>
                <a:sym typeface="Arial"/>
              </a:rPr>
              <a:t>135</a:t>
            </a:r>
            <a:endParaRPr b="0" i="0" sz="1400" u="none" cap="none" strike="noStrike">
              <a:solidFill>
                <a:srgbClr val="000000"/>
              </a:solidFill>
              <a:latin typeface="Arial"/>
              <a:ea typeface="Arial"/>
              <a:cs typeface="Arial"/>
              <a:sym typeface="Arial"/>
            </a:endParaRPr>
          </a:p>
        </p:txBody>
      </p:sp>
      <p:cxnSp>
        <p:nvCxnSpPr>
          <p:cNvPr id="96" name="Google Shape;96;p17"/>
          <p:cNvCxnSpPr/>
          <p:nvPr/>
        </p:nvCxnSpPr>
        <p:spPr>
          <a:xfrm flipH="1" rot="10800000">
            <a:off x="4680725" y="2946375"/>
            <a:ext cx="1111800" cy="265500"/>
          </a:xfrm>
          <a:prstGeom prst="straightConnector1">
            <a:avLst/>
          </a:prstGeom>
          <a:noFill/>
          <a:ln cap="flat" cmpd="sng" w="9525">
            <a:solidFill>
              <a:srgbClr val="FF0000"/>
            </a:solidFill>
            <a:prstDash val="solid"/>
            <a:round/>
            <a:headEnd len="sm" w="sm" type="none"/>
            <a:tailEnd len="med" w="med" type="stealth"/>
          </a:ln>
        </p:spPr>
      </p:cxnSp>
      <p:cxnSp>
        <p:nvCxnSpPr>
          <p:cNvPr id="97" name="Google Shape;97;p17"/>
          <p:cNvCxnSpPr/>
          <p:nvPr/>
        </p:nvCxnSpPr>
        <p:spPr>
          <a:xfrm flipH="1" rot="10800000">
            <a:off x="4528325" y="2641575"/>
            <a:ext cx="1111800" cy="265500"/>
          </a:xfrm>
          <a:prstGeom prst="straightConnector1">
            <a:avLst/>
          </a:prstGeom>
          <a:noFill/>
          <a:ln cap="flat" cmpd="sng" w="9525">
            <a:solidFill>
              <a:srgbClr val="FF0000"/>
            </a:solidFill>
            <a:prstDash val="solid"/>
            <a:round/>
            <a:headEnd len="sm" w="sm" type="none"/>
            <a:tailEnd len="med" w="med" type="stealth"/>
          </a:ln>
        </p:spPr>
      </p:cxnSp>
      <p:cxnSp>
        <p:nvCxnSpPr>
          <p:cNvPr id="98" name="Google Shape;98;p17"/>
          <p:cNvCxnSpPr/>
          <p:nvPr/>
        </p:nvCxnSpPr>
        <p:spPr>
          <a:xfrm flipH="1" rot="10800000">
            <a:off x="4680725" y="2793975"/>
            <a:ext cx="1111800" cy="265500"/>
          </a:xfrm>
          <a:prstGeom prst="straightConnector1">
            <a:avLst/>
          </a:prstGeom>
          <a:noFill/>
          <a:ln cap="flat" cmpd="sng" w="9525">
            <a:solidFill>
              <a:srgbClr val="FF0000"/>
            </a:solidFill>
            <a:prstDash val="solid"/>
            <a:round/>
            <a:headEnd len="sm" w="sm" type="none"/>
            <a:tailEnd len="med" w="med" type="stealth"/>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ctrTitle"/>
          </p:nvPr>
        </p:nvSpPr>
        <p:spPr>
          <a:xfrm>
            <a:off x="311700" y="58775"/>
            <a:ext cx="8520600" cy="8259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65079"/>
              <a:buNone/>
            </a:pPr>
            <a:r>
              <a:rPr lang="en-IN" sz="3500"/>
              <a:t>Add, Edit Camera and Masking coordinates</a:t>
            </a:r>
            <a:endParaRPr sz="3500"/>
          </a:p>
        </p:txBody>
      </p:sp>
      <p:sp>
        <p:nvSpPr>
          <p:cNvPr id="104" name="Google Shape;104;p18"/>
          <p:cNvSpPr txBox="1"/>
          <p:nvPr>
            <p:ph idx="1" type="subTitle"/>
          </p:nvPr>
        </p:nvSpPr>
        <p:spPr>
          <a:xfrm>
            <a:off x="311700" y="963050"/>
            <a:ext cx="8520600" cy="792600"/>
          </a:xfrm>
          <a:prstGeom prst="rect">
            <a:avLst/>
          </a:prstGeom>
          <a:noFill/>
          <a:ln>
            <a:noFill/>
          </a:ln>
        </p:spPr>
        <p:txBody>
          <a:bodyPr anchorCtr="0" anchor="t" bIns="91425" lIns="91425" spcFirstLastPara="1" rIns="91425" wrap="square" tIns="91425">
            <a:normAutofit fontScale="92500"/>
          </a:bodyPr>
          <a:lstStyle/>
          <a:p>
            <a:pPr indent="0" lvl="0" marL="0" rtl="0" algn="ctr">
              <a:lnSpc>
                <a:spcPct val="100000"/>
              </a:lnSpc>
              <a:spcBef>
                <a:spcPts val="0"/>
              </a:spcBef>
              <a:spcAft>
                <a:spcPts val="0"/>
              </a:spcAft>
              <a:buSzPct val="108108"/>
              <a:buNone/>
            </a:pPr>
            <a:r>
              <a:rPr lang="en-IN"/>
              <a:t>Onfly, change the masking coordinates with Rest API</a:t>
            </a:r>
            <a:endParaRPr/>
          </a:p>
        </p:txBody>
      </p:sp>
      <p:sp>
        <p:nvSpPr>
          <p:cNvPr id="105" name="Google Shape;105;p18"/>
          <p:cNvSpPr txBox="1"/>
          <p:nvPr/>
        </p:nvSpPr>
        <p:spPr>
          <a:xfrm>
            <a:off x="62650" y="1503125"/>
            <a:ext cx="9253500" cy="338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"Potential ID": "729795",</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"rtcMaxPort": 12560,</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"Rtc MinPort": 11501,</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"pre_clip": 5,</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"rtsp":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"0":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"rtsp": "rtsp://root:60056005@x.x.x:554/axis-media/media.amp?videocodec=h264&amp;resolution=1280x720&amp;fps=25",</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"state": "streaming",</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"CLIPSIZE": 20,</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"DEFAULT_WINDOW_SIZE": 3,</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"DEFAULT_OCCUPANCY_THRESHOLD": 2,</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"DEFAULT_LOCAL_OCCUPANCY_AVG_THRESHOLD": 0.6,</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"DEFAULT_OCCUPANCY_AVG_THRESHOLD": 0.6,</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"md": true,</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"masking_coords" : [{"x" : 0,"y" : 0}, {"x" :1280,"y" : 0}, {"x" : 1280, "y" : 720}, {"x" : 0,"y" :720}]</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000000"/>
                </a:solidFill>
                <a:latin typeface="Arial"/>
                <a:ea typeface="Arial"/>
                <a:cs typeface="Arial"/>
                <a:sym typeface="Arial"/>
              </a:rPr>
              <a:t>    },</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ctrTitle"/>
          </p:nvPr>
        </p:nvSpPr>
        <p:spPr>
          <a:xfrm>
            <a:off x="311700" y="234875"/>
            <a:ext cx="8520600" cy="869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990"/>
              <a:buNone/>
            </a:pPr>
            <a:r>
              <a:rPr lang="en-IN" sz="4180"/>
              <a:t>Security </a:t>
            </a:r>
            <a:endParaRPr sz="4180"/>
          </a:p>
        </p:txBody>
      </p:sp>
      <p:sp>
        <p:nvSpPr>
          <p:cNvPr id="111" name="Google Shape;111;p1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fontScale="40000" lnSpcReduction="20000"/>
          </a:bodyPr>
          <a:lstStyle/>
          <a:p>
            <a:pPr indent="0" lvl="0" marL="457200" rtl="0" algn="l">
              <a:lnSpc>
                <a:spcPct val="100000"/>
              </a:lnSpc>
              <a:spcBef>
                <a:spcPts val="0"/>
              </a:spcBef>
              <a:spcAft>
                <a:spcPts val="0"/>
              </a:spcAft>
              <a:buSzPct val="250000"/>
              <a:buNone/>
            </a:pPr>
            <a:r>
              <a:t/>
            </a:r>
            <a:endParaRPr/>
          </a:p>
          <a:p>
            <a:pPr indent="-299720" lvl="0" marL="457200" rtl="0" algn="l">
              <a:lnSpc>
                <a:spcPct val="100000"/>
              </a:lnSpc>
              <a:spcBef>
                <a:spcPts val="0"/>
              </a:spcBef>
              <a:spcAft>
                <a:spcPts val="0"/>
              </a:spcAft>
              <a:buSzPct val="100000"/>
              <a:buChar char="●"/>
            </a:pPr>
            <a:r>
              <a:rPr lang="en-IN"/>
              <a:t>Auth Token Authorization</a:t>
            </a:r>
            <a:endParaRPr/>
          </a:p>
          <a:p>
            <a:pPr indent="-299720" lvl="0" marL="457200" rtl="0" algn="l">
              <a:lnSpc>
                <a:spcPct val="100000"/>
              </a:lnSpc>
              <a:spcBef>
                <a:spcPts val="0"/>
              </a:spcBef>
              <a:spcAft>
                <a:spcPts val="0"/>
              </a:spcAft>
              <a:buSzPct val="100000"/>
              <a:buChar char="●"/>
            </a:pPr>
            <a:r>
              <a:rPr lang="en-IN"/>
              <a:t>HTTPS</a:t>
            </a:r>
            <a:endParaRPr/>
          </a:p>
          <a:p>
            <a:pPr indent="-299720" lvl="0" marL="457200" rtl="0" algn="l">
              <a:lnSpc>
                <a:spcPct val="100000"/>
              </a:lnSpc>
              <a:spcBef>
                <a:spcPts val="0"/>
              </a:spcBef>
              <a:spcAft>
                <a:spcPts val="0"/>
              </a:spcAft>
              <a:buSzPct val="100000"/>
              <a:buChar char="●"/>
            </a:pPr>
            <a:r>
              <a:rPr lang="en-IN"/>
              <a:t>Secured Rest APIs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ctrTitle"/>
          </p:nvPr>
        </p:nvSpPr>
        <p:spPr>
          <a:xfrm>
            <a:off x="311700" y="744575"/>
            <a:ext cx="8520600" cy="7806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IN"/>
              <a:t>Segments Having motions</a:t>
            </a:r>
            <a:endParaRPr/>
          </a:p>
        </p:txBody>
      </p:sp>
      <p:sp>
        <p:nvSpPr>
          <p:cNvPr id="117" name="Google Shape;117;p20"/>
          <p:cNvSpPr txBox="1"/>
          <p:nvPr>
            <p:ph idx="1" type="subTitle"/>
          </p:nvPr>
        </p:nvSpPr>
        <p:spPr>
          <a:xfrm>
            <a:off x="311700" y="1694575"/>
            <a:ext cx="8520600" cy="2741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IN"/>
              <a:t>I P P P P I  P P P P I P P P P I     —&gt; FPS 5 - 25</a:t>
            </a:r>
            <a:endParaRPr/>
          </a:p>
          <a:p>
            <a:pPr indent="0" lvl="0" marL="0" rtl="0" algn="l">
              <a:lnSpc>
                <a:spcPct val="100000"/>
              </a:lnSpc>
              <a:spcBef>
                <a:spcPts val="0"/>
              </a:spcBef>
              <a:spcAft>
                <a:spcPts val="0"/>
              </a:spcAft>
              <a:buSzPts val="2800"/>
              <a:buNone/>
            </a:pPr>
            <a:r>
              <a:rPr lang="en-IN" sz="600"/>
              <a:t>1       2              3             4                5             6           7            8                 9           10            11       12            13         14               15         16                             -                  </a:t>
            </a:r>
            <a:endParaRPr sz="600"/>
          </a:p>
          <a:p>
            <a:pPr indent="0" lvl="0" marL="0" rtl="0" algn="l">
              <a:lnSpc>
                <a:spcPct val="100000"/>
              </a:lnSpc>
              <a:spcBef>
                <a:spcPts val="0"/>
              </a:spcBef>
              <a:spcAft>
                <a:spcPts val="0"/>
              </a:spcAft>
              <a:buSzPts val="2800"/>
              <a:buNone/>
            </a:pPr>
            <a:r>
              <a:rPr lang="en-IN" sz="600"/>
              <a:t>                                                                                                    M               M          M</a:t>
            </a:r>
            <a:endParaRPr sz="600"/>
          </a:p>
          <a:p>
            <a:pPr indent="0" lvl="0" marL="0" rtl="0" algn="l">
              <a:lnSpc>
                <a:spcPct val="100000"/>
              </a:lnSpc>
              <a:spcBef>
                <a:spcPts val="0"/>
              </a:spcBef>
              <a:spcAft>
                <a:spcPts val="0"/>
              </a:spcAft>
              <a:buSzPts val="2800"/>
              <a:buNone/>
            </a:pPr>
            <a:r>
              <a:t/>
            </a:r>
            <a:endParaRPr sz="600"/>
          </a:p>
          <a:p>
            <a:pPr indent="0" lvl="0" marL="0" rtl="0" algn="l">
              <a:lnSpc>
                <a:spcPct val="100000"/>
              </a:lnSpc>
              <a:spcBef>
                <a:spcPts val="0"/>
              </a:spcBef>
              <a:spcAft>
                <a:spcPts val="0"/>
              </a:spcAft>
              <a:buSzPts val="2800"/>
              <a:buNone/>
            </a:pPr>
            <a:r>
              <a:rPr lang="en-IN" sz="1100"/>
              <a:t>Motion happened at  8 and 9  frames ( Triggers MD at 8 frames  </a:t>
            </a:r>
            <a:endParaRPr sz="1100"/>
          </a:p>
          <a:p>
            <a:pPr indent="0" lvl="0" marL="0" rtl="0" algn="l">
              <a:lnSpc>
                <a:spcPct val="100000"/>
              </a:lnSpc>
              <a:spcBef>
                <a:spcPts val="0"/>
              </a:spcBef>
              <a:spcAft>
                <a:spcPts val="0"/>
              </a:spcAft>
              <a:buSzPts val="2800"/>
              <a:buNone/>
            </a:pPr>
            <a:r>
              <a:t/>
            </a:r>
            <a:endParaRPr sz="1100"/>
          </a:p>
          <a:p>
            <a:pPr indent="0" lvl="0" marL="0" rtl="0" algn="l">
              <a:lnSpc>
                <a:spcPct val="100000"/>
              </a:lnSpc>
              <a:spcBef>
                <a:spcPts val="0"/>
              </a:spcBef>
              <a:spcAft>
                <a:spcPts val="0"/>
              </a:spcAft>
              <a:buSzPts val="2800"/>
              <a:buNone/>
            </a:pPr>
            <a:r>
              <a:rPr lang="en-IN" sz="1100"/>
              <a:t>Seg 1- 5  will not be send </a:t>
            </a:r>
            <a:endParaRPr sz="1100"/>
          </a:p>
          <a:p>
            <a:pPr indent="0" lvl="0" marL="0" rtl="0" algn="l">
              <a:lnSpc>
                <a:spcPct val="100000"/>
              </a:lnSpc>
              <a:spcBef>
                <a:spcPts val="0"/>
              </a:spcBef>
              <a:spcAft>
                <a:spcPts val="0"/>
              </a:spcAft>
              <a:buSzPts val="2800"/>
              <a:buNone/>
            </a:pPr>
            <a:r>
              <a:t/>
            </a:r>
            <a:endParaRPr sz="1100"/>
          </a:p>
          <a:p>
            <a:pPr indent="0" lvl="0" marL="0" rtl="0" algn="l">
              <a:lnSpc>
                <a:spcPct val="100000"/>
              </a:lnSpc>
              <a:spcBef>
                <a:spcPts val="0"/>
              </a:spcBef>
              <a:spcAft>
                <a:spcPts val="0"/>
              </a:spcAft>
              <a:buSzPts val="2800"/>
              <a:buNone/>
            </a:pPr>
            <a:r>
              <a:rPr lang="en-IN" sz="1100"/>
              <a:t>Seg 6- 10 will be only send and saved ( FMp2)  +- delta ( pre 2 Secs ,  post 18 Secs)    after trigger  at 9th frame for coming 20 Sec Motion Extraction will stop.</a:t>
            </a:r>
            <a:endParaRPr sz="1100"/>
          </a:p>
          <a:p>
            <a:pPr indent="0" lvl="0" marL="0" rtl="0" algn="l">
              <a:lnSpc>
                <a:spcPct val="100000"/>
              </a:lnSpc>
              <a:spcBef>
                <a:spcPts val="0"/>
              </a:spcBef>
              <a:spcAft>
                <a:spcPts val="0"/>
              </a:spcAft>
              <a:buSzPts val="2800"/>
              <a:buNone/>
            </a:pPr>
            <a:r>
              <a:t/>
            </a:r>
            <a:endParaRPr sz="1100"/>
          </a:p>
          <a:p>
            <a:pPr indent="0" lvl="0" marL="0" rtl="0" algn="l">
              <a:lnSpc>
                <a:spcPct val="100000"/>
              </a:lnSpc>
              <a:spcBef>
                <a:spcPts val="0"/>
              </a:spcBef>
              <a:spcAft>
                <a:spcPts val="0"/>
              </a:spcAft>
              <a:buClr>
                <a:schemeClr val="dk1"/>
              </a:buClr>
              <a:buSzPts val="1100"/>
              <a:buFont typeface="Arial"/>
              <a:buNone/>
            </a:pPr>
            <a:r>
              <a:rPr lang="en-IN" sz="1100"/>
              <a:t>Seg 11- 15  will not be send </a:t>
            </a:r>
            <a:endParaRPr sz="1100"/>
          </a:p>
          <a:p>
            <a:pPr indent="0" lvl="0" marL="0" rtl="0" algn="l">
              <a:lnSpc>
                <a:spcPct val="100000"/>
              </a:lnSpc>
              <a:spcBef>
                <a:spcPts val="0"/>
              </a:spcBef>
              <a:spcAft>
                <a:spcPts val="0"/>
              </a:spcAft>
              <a:buSzPts val="2800"/>
              <a:buNone/>
            </a:pPr>
            <a:r>
              <a:t/>
            </a:r>
            <a:endParaRPr sz="1100"/>
          </a:p>
          <a:p>
            <a:pPr indent="0" lvl="0" marL="0" rtl="0" algn="l">
              <a:lnSpc>
                <a:spcPct val="100000"/>
              </a:lnSpc>
              <a:spcBef>
                <a:spcPts val="0"/>
              </a:spcBef>
              <a:spcAft>
                <a:spcPts val="0"/>
              </a:spcAft>
              <a:buSzPts val="2800"/>
              <a:buNone/>
            </a:pPr>
            <a:r>
              <a:t/>
            </a:r>
            <a:endParaRPr sz="1100"/>
          </a:p>
          <a:p>
            <a:pPr indent="0" lvl="0" marL="0" rtl="0" algn="l">
              <a:lnSpc>
                <a:spcPct val="100000"/>
              </a:lnSpc>
              <a:spcBef>
                <a:spcPts val="0"/>
              </a:spcBef>
              <a:spcAft>
                <a:spcPts val="0"/>
              </a:spcAft>
              <a:buSzPts val="2800"/>
              <a:buNone/>
            </a:pPr>
            <a:r>
              <a:rPr lang="en-IN" sz="1100"/>
              <a:t>9 th frame trigger</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ctrTitle"/>
          </p:nvPr>
        </p:nvSpPr>
        <p:spPr>
          <a:xfrm>
            <a:off x="311700" y="744575"/>
            <a:ext cx="8520600" cy="7806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IN"/>
              <a:t>Preclip config before motions</a:t>
            </a:r>
            <a:endParaRPr/>
          </a:p>
        </p:txBody>
      </p:sp>
      <p:sp>
        <p:nvSpPr>
          <p:cNvPr id="123" name="Google Shape;123;p21"/>
          <p:cNvSpPr txBox="1"/>
          <p:nvPr>
            <p:ph idx="1" type="subTitle"/>
          </p:nvPr>
        </p:nvSpPr>
        <p:spPr>
          <a:xfrm>
            <a:off x="311700" y="1694575"/>
            <a:ext cx="8683444" cy="3121974"/>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2800"/>
              <a:buFont typeface="Arial"/>
              <a:buChar char="•"/>
            </a:pPr>
            <a:r>
              <a:rPr b="0" i="0" lang="en-IN" sz="1100">
                <a:solidFill>
                  <a:srgbClr val="222222"/>
                </a:solidFill>
                <a:latin typeface="Arial"/>
                <a:ea typeface="Arial"/>
                <a:cs typeface="Arial"/>
                <a:sym typeface="Arial"/>
              </a:rPr>
              <a:t>When GOP is 5  and FPS is 5 , If Pre-clip configured as 5 in the code then MP4 will start from 21 frame which is I frame.</a:t>
            </a:r>
            <a:endParaRPr/>
          </a:p>
          <a:p>
            <a:pPr indent="-342900" lvl="0" marL="457200" rtl="0" algn="l">
              <a:lnSpc>
                <a:spcPct val="100000"/>
              </a:lnSpc>
              <a:spcBef>
                <a:spcPts val="0"/>
              </a:spcBef>
              <a:spcAft>
                <a:spcPts val="0"/>
              </a:spcAft>
              <a:buSzPts val="2800"/>
              <a:buFont typeface="Arial"/>
              <a:buChar char="•"/>
            </a:pPr>
            <a:r>
              <a:rPr b="0" i="0" lang="en-IN" sz="1100">
                <a:solidFill>
                  <a:srgbClr val="222222"/>
                </a:solidFill>
                <a:latin typeface="Arial"/>
                <a:ea typeface="Arial"/>
                <a:cs typeface="Arial"/>
                <a:sym typeface="Arial"/>
              </a:rPr>
              <a:t>Below mentioned clips elaboration for the reference</a:t>
            </a:r>
            <a:endParaRPr/>
          </a:p>
          <a:p>
            <a:pPr indent="-342900" lvl="0" marL="457200" rtl="0" algn="l">
              <a:lnSpc>
                <a:spcPct val="100000"/>
              </a:lnSpc>
              <a:spcBef>
                <a:spcPts val="0"/>
              </a:spcBef>
              <a:spcAft>
                <a:spcPts val="0"/>
              </a:spcAft>
              <a:buSzPts val="2800"/>
              <a:buNone/>
            </a:pPr>
            <a:r>
              <a:t/>
            </a:r>
            <a:endParaRPr b="0" i="0" sz="1100">
              <a:solidFill>
                <a:srgbClr val="222222"/>
              </a:solidFill>
              <a:latin typeface="Arial"/>
              <a:ea typeface="Arial"/>
              <a:cs typeface="Arial"/>
              <a:sym typeface="Arial"/>
            </a:endParaRPr>
          </a:p>
          <a:p>
            <a:pPr indent="-342900" lvl="0" marL="457200" rtl="0" algn="l">
              <a:lnSpc>
                <a:spcPct val="100000"/>
              </a:lnSpc>
              <a:spcBef>
                <a:spcPts val="0"/>
              </a:spcBef>
              <a:spcAft>
                <a:spcPts val="0"/>
              </a:spcAft>
              <a:buSzPts val="2800"/>
              <a:buNone/>
            </a:pPr>
            <a:r>
              <a:rPr b="0" i="0" lang="en-IN" sz="1100">
                <a:solidFill>
                  <a:srgbClr val="222222"/>
                </a:solidFill>
                <a:latin typeface="Arial"/>
                <a:ea typeface="Arial"/>
                <a:cs typeface="Arial"/>
                <a:sym typeface="Arial"/>
              </a:rPr>
              <a:t>I p p p p I p p p  p  I  p p p p |   p p p p p  I  p p p p p |   I  p p p p p |   I  p p p p p |   I  p p p p p |  I  p p p p  p  |  p p p p  p   |   p p p p p |   </a:t>
            </a:r>
            <a:endParaRPr/>
          </a:p>
          <a:p>
            <a:pPr indent="-342900" lvl="0" marL="457200" rtl="0" algn="l">
              <a:lnSpc>
                <a:spcPct val="100000"/>
              </a:lnSpc>
              <a:spcBef>
                <a:spcPts val="0"/>
              </a:spcBef>
              <a:spcAft>
                <a:spcPts val="0"/>
              </a:spcAft>
              <a:buSzPts val="2800"/>
              <a:buNone/>
            </a:pPr>
            <a:r>
              <a:rPr b="0" i="0" lang="en-IN" sz="1100">
                <a:solidFill>
                  <a:srgbClr val="222222"/>
                </a:solidFill>
                <a:latin typeface="Arial"/>
                <a:ea typeface="Arial"/>
                <a:cs typeface="Arial"/>
                <a:sym typeface="Arial"/>
              </a:rPr>
              <a:t>1            6              11            16               21                                                                                                            M M M</a:t>
            </a:r>
            <a:endParaRPr b="0" i="0" sz="1100">
              <a:solidFill>
                <a:srgbClr val="222222"/>
              </a:solidFill>
              <a:latin typeface="Arial"/>
              <a:ea typeface="Arial"/>
              <a:cs typeface="Arial"/>
              <a:sym typeface="Arial"/>
            </a:endParaRPr>
          </a:p>
          <a:p>
            <a:pPr indent="-342900" lvl="0" marL="457200" rtl="0" algn="l">
              <a:lnSpc>
                <a:spcPct val="100000"/>
              </a:lnSpc>
              <a:spcBef>
                <a:spcPts val="0"/>
              </a:spcBef>
              <a:spcAft>
                <a:spcPts val="0"/>
              </a:spcAft>
              <a:buSzPts val="2800"/>
              <a:buNone/>
            </a:pPr>
            <a:r>
              <a:rPr b="0" i="0" lang="en-IN" sz="1100">
                <a:solidFill>
                  <a:srgbClr val="222222"/>
                </a:solidFill>
                <a:latin typeface="Arial"/>
                <a:ea typeface="Arial"/>
                <a:cs typeface="Arial"/>
                <a:sym typeface="Arial"/>
              </a:rPr>
              <a:t>                                                               </a:t>
            </a:r>
            <a:endParaRPr/>
          </a:p>
          <a:p>
            <a:pPr indent="-342900" lvl="0" marL="457200" rtl="0" algn="l">
              <a:lnSpc>
                <a:spcPct val="100000"/>
              </a:lnSpc>
              <a:spcBef>
                <a:spcPts val="0"/>
              </a:spcBef>
              <a:spcAft>
                <a:spcPts val="0"/>
              </a:spcAft>
              <a:buSzPts val="2800"/>
              <a:buFont typeface="Arial"/>
              <a:buChar char="•"/>
            </a:pPr>
            <a:r>
              <a:rPr lang="en-IN" sz="1100">
                <a:solidFill>
                  <a:srgbClr val="222222"/>
                </a:solidFill>
                <a:latin typeface="Arial"/>
                <a:ea typeface="Arial"/>
                <a:cs typeface="Arial"/>
                <a:sym typeface="Arial"/>
              </a:rPr>
              <a:t>* </a:t>
            </a:r>
            <a:r>
              <a:rPr b="0" i="0" lang="en-IN" sz="1100">
                <a:solidFill>
                  <a:srgbClr val="222222"/>
                </a:solidFill>
                <a:latin typeface="Arial"/>
                <a:ea typeface="Arial"/>
                <a:cs typeface="Arial"/>
                <a:sym typeface="Arial"/>
              </a:rPr>
              <a:t>When GOP is 10 and FPS is 5, If Pre-clip configured as 5 in the code then MP4 will start from 31 frame which is I frame.</a:t>
            </a:r>
            <a:endParaRPr/>
          </a:p>
          <a:p>
            <a:pPr indent="-342900" lvl="0" marL="457200" rtl="0" algn="l">
              <a:lnSpc>
                <a:spcPct val="100000"/>
              </a:lnSpc>
              <a:spcBef>
                <a:spcPts val="0"/>
              </a:spcBef>
              <a:spcAft>
                <a:spcPts val="0"/>
              </a:spcAft>
              <a:buSzPts val="2800"/>
              <a:buFont typeface="Arial"/>
              <a:buChar char="•"/>
            </a:pPr>
            <a:r>
              <a:rPr b="0" i="0" lang="en-IN" sz="1100">
                <a:solidFill>
                  <a:srgbClr val="222222"/>
                </a:solidFill>
                <a:latin typeface="Arial"/>
                <a:ea typeface="Arial"/>
                <a:cs typeface="Arial"/>
                <a:sym typeface="Arial"/>
              </a:rPr>
              <a:t>Below mentioned clips elaboration for the reference</a:t>
            </a:r>
            <a:endParaRPr/>
          </a:p>
          <a:p>
            <a:pPr indent="-342900" lvl="0" marL="457200" rtl="0" algn="l">
              <a:lnSpc>
                <a:spcPct val="100000"/>
              </a:lnSpc>
              <a:spcBef>
                <a:spcPts val="0"/>
              </a:spcBef>
              <a:spcAft>
                <a:spcPts val="0"/>
              </a:spcAft>
              <a:buSzPts val="2800"/>
              <a:buNone/>
            </a:pPr>
            <a:r>
              <a:t/>
            </a:r>
            <a:endParaRPr b="0" i="0" sz="1100">
              <a:solidFill>
                <a:srgbClr val="222222"/>
              </a:solidFill>
              <a:latin typeface="Arial"/>
              <a:ea typeface="Arial"/>
              <a:cs typeface="Arial"/>
              <a:sym typeface="Arial"/>
            </a:endParaRPr>
          </a:p>
          <a:p>
            <a:pPr indent="-342900" lvl="0" marL="457200" rtl="0" algn="l">
              <a:lnSpc>
                <a:spcPct val="100000"/>
              </a:lnSpc>
              <a:spcBef>
                <a:spcPts val="0"/>
              </a:spcBef>
              <a:spcAft>
                <a:spcPts val="0"/>
              </a:spcAft>
              <a:buSzPts val="2800"/>
              <a:buNone/>
            </a:pPr>
            <a:r>
              <a:rPr b="0" i="0" lang="en-IN" sz="1100">
                <a:solidFill>
                  <a:srgbClr val="222222"/>
                </a:solidFill>
                <a:latin typeface="Arial"/>
                <a:ea typeface="Arial"/>
                <a:cs typeface="Arial"/>
                <a:sym typeface="Arial"/>
              </a:rPr>
              <a:t>I p p p p p p p p p I p p p p p p p p p I p p p p p p p p p| p p p p p p p p p  I  p p p p p p p p p |   I  p p p p p p p p p |   I p p p p p p p p p |   I p p p p p p p p p |  I  p p p p p p p p p  |  p p p p p p p p p   | p p p p p p p p p |   </a:t>
            </a:r>
            <a:endParaRPr/>
          </a:p>
          <a:p>
            <a:pPr indent="-342900" lvl="0" marL="457200" rtl="0" algn="l">
              <a:lnSpc>
                <a:spcPct val="100000"/>
              </a:lnSpc>
              <a:spcBef>
                <a:spcPts val="0"/>
              </a:spcBef>
              <a:spcAft>
                <a:spcPts val="0"/>
              </a:spcAft>
              <a:buSzPts val="2800"/>
              <a:buNone/>
            </a:pPr>
            <a:r>
              <a:rPr b="0" i="0" lang="en-IN" sz="1100">
                <a:solidFill>
                  <a:srgbClr val="222222"/>
                </a:solidFill>
                <a:latin typeface="Arial"/>
                <a:ea typeface="Arial"/>
                <a:cs typeface="Arial"/>
                <a:sym typeface="Arial"/>
              </a:rPr>
              <a:t>1                          11                          21                        31                          41                                                 M M M </a:t>
            </a:r>
            <a:endParaRPr/>
          </a:p>
          <a:p>
            <a:pPr indent="-342900" lvl="0" marL="457200" rtl="0" algn="l">
              <a:lnSpc>
                <a:spcPct val="100000"/>
              </a:lnSpc>
              <a:spcBef>
                <a:spcPts val="0"/>
              </a:spcBef>
              <a:spcAft>
                <a:spcPts val="0"/>
              </a:spcAft>
              <a:buSzPts val="2800"/>
              <a:buNone/>
            </a:pPr>
            <a:r>
              <a:rPr b="0" i="0" lang="en-IN" sz="1100">
                <a:solidFill>
                  <a:srgbClr val="222222"/>
                </a:solidFill>
                <a:latin typeface="Arial"/>
                <a:ea typeface="Arial"/>
                <a:cs typeface="Arial"/>
                <a:sym typeface="Arial"/>
              </a:rPr>
              <a:t>                                                                </a:t>
            </a:r>
            <a:endParaRPr/>
          </a:p>
          <a:p>
            <a:pPr indent="-342900" lvl="0" marL="457200" rtl="0" algn="l">
              <a:lnSpc>
                <a:spcPct val="100000"/>
              </a:lnSpc>
              <a:spcBef>
                <a:spcPts val="0"/>
              </a:spcBef>
              <a:spcAft>
                <a:spcPts val="0"/>
              </a:spcAft>
              <a:buSzPts val="2800"/>
              <a:buNone/>
            </a:pPr>
            <a:r>
              <a:rPr b="1" i="0" lang="en-IN" sz="1100">
                <a:solidFill>
                  <a:srgbClr val="222222"/>
                </a:solidFill>
                <a:latin typeface="Arial"/>
                <a:ea typeface="Arial"/>
                <a:cs typeface="Arial"/>
                <a:sym typeface="Arial"/>
              </a:rPr>
              <a:t>When GOP size is 10 or  33 etc   PreClip size can never be accurate.  It will be approx around  4-6 seconds</a:t>
            </a:r>
            <a:endParaRPr b="0" i="0" sz="1100">
              <a:solidFill>
                <a:srgbClr val="222222"/>
              </a:solidFill>
              <a:latin typeface="Arial"/>
              <a:ea typeface="Arial"/>
              <a:cs typeface="Arial"/>
              <a:sym typeface="Arial"/>
            </a:endParaRPr>
          </a:p>
          <a:p>
            <a:pPr indent="0" lvl="0" marL="0" rtl="0" algn="l">
              <a:lnSpc>
                <a:spcPct val="100000"/>
              </a:lnSpc>
              <a:spcBef>
                <a:spcPts val="0"/>
              </a:spcBef>
              <a:spcAft>
                <a:spcPts val="0"/>
              </a:spcAft>
              <a:buSzPts val="2800"/>
              <a:buNone/>
            </a:pPr>
            <a:r>
              <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2"/>
          <p:cNvPicPr preferRelativeResize="0"/>
          <p:nvPr/>
        </p:nvPicPr>
        <p:blipFill rotWithShape="1">
          <a:blip r:embed="rId3">
            <a:alphaModFix/>
          </a:blip>
          <a:srcRect b="0" l="0" r="0" t="0"/>
          <a:stretch/>
        </p:blipFill>
        <p:spPr>
          <a:xfrm>
            <a:off x="152400" y="152400"/>
            <a:ext cx="8918502" cy="48387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IN"/>
              <a:t>Motion Detection Service</a:t>
            </a:r>
            <a:endParaRPr/>
          </a:p>
        </p:txBody>
      </p:sp>
      <p:sp>
        <p:nvSpPr>
          <p:cNvPr id="134" name="Google Shape;134;p23"/>
          <p:cNvSpPr txBox="1"/>
          <p:nvPr>
            <p:ph idx="1" type="body"/>
          </p:nvPr>
        </p:nvSpPr>
        <p:spPr>
          <a:xfrm>
            <a:off x="311700" y="1153875"/>
            <a:ext cx="8792100" cy="39894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0"/>
              </a:spcBef>
              <a:spcAft>
                <a:spcPts val="0"/>
              </a:spcAft>
              <a:buSzPct val="128571"/>
              <a:buNone/>
            </a:pPr>
            <a:r>
              <a:rPr lang="en-IN" sz="5600"/>
              <a:t>Readme.md</a:t>
            </a:r>
            <a:endParaRPr sz="5600"/>
          </a:p>
          <a:p>
            <a:pPr indent="0" lvl="0" marL="0" rtl="0" algn="l">
              <a:lnSpc>
                <a:spcPct val="115000"/>
              </a:lnSpc>
              <a:spcBef>
                <a:spcPts val="1200"/>
              </a:spcBef>
              <a:spcAft>
                <a:spcPts val="0"/>
              </a:spcAft>
              <a:buSzPct val="128571"/>
              <a:buNone/>
            </a:pPr>
            <a:r>
              <a:rPr lang="en-IN" sz="5600" u="sng">
                <a:solidFill>
                  <a:schemeClr val="hlink"/>
                </a:solidFill>
                <a:hlinkClick r:id="rId3"/>
              </a:rPr>
              <a:t>https://bitbucket.org/webrtc-solution/mediaserver/src/provigil/src/motiondetection/</a:t>
            </a:r>
            <a:endParaRPr sz="5600"/>
          </a:p>
          <a:p>
            <a:pPr indent="0" lvl="0" marL="0" rtl="0" algn="l">
              <a:lnSpc>
                <a:spcPct val="115000"/>
              </a:lnSpc>
              <a:spcBef>
                <a:spcPts val="1200"/>
              </a:spcBef>
              <a:spcAft>
                <a:spcPts val="0"/>
              </a:spcAft>
              <a:buSzPct val="128571"/>
              <a:buNone/>
            </a:pPr>
            <a:r>
              <a:rPr lang="en-IN" sz="5600"/>
              <a:t>Service Name: mdserver</a:t>
            </a:r>
            <a:endParaRPr sz="5600"/>
          </a:p>
          <a:p>
            <a:pPr indent="0" lvl="0" marL="0" rtl="0" algn="l">
              <a:lnSpc>
                <a:spcPct val="115000"/>
              </a:lnSpc>
              <a:spcBef>
                <a:spcPts val="1200"/>
              </a:spcBef>
              <a:spcAft>
                <a:spcPts val="0"/>
              </a:spcAft>
              <a:buClr>
                <a:schemeClr val="dk1"/>
              </a:buClr>
              <a:buSzPts val="275"/>
              <a:buFont typeface="Arial"/>
              <a:buNone/>
            </a:pPr>
            <a:r>
              <a:rPr b="1" lang="en-IN" sz="5600"/>
              <a:t>Modules</a:t>
            </a:r>
            <a:r>
              <a:rPr lang="en-IN" sz="5600"/>
              <a:t> </a:t>
            </a:r>
            <a:endParaRPr sz="5600"/>
          </a:p>
          <a:p>
            <a:pPr indent="0" lvl="0" marL="0" rtl="0" algn="l">
              <a:lnSpc>
                <a:spcPct val="115000"/>
              </a:lnSpc>
              <a:spcBef>
                <a:spcPts val="1200"/>
              </a:spcBef>
              <a:spcAft>
                <a:spcPts val="0"/>
              </a:spcAft>
              <a:buClr>
                <a:schemeClr val="dk1"/>
              </a:buClr>
              <a:buSzPts val="275"/>
              <a:buFont typeface="Arial"/>
              <a:buNone/>
            </a:pPr>
            <a:r>
              <a:rPr lang="en-IN" sz="5600"/>
              <a:t> </a:t>
            </a:r>
            <a:r>
              <a:rPr lang="en-IN" sz="4000"/>
              <a:t>1) RTSP Client Shared ,  Get RTSP Stream from Camera (  it will be same as existing Mpeg Dash and Webrtc Service)     Camera will be added by Rest API as we do in Mpeg Dash and Webrtc Service</a:t>
            </a:r>
            <a:endParaRPr sz="4000"/>
          </a:p>
          <a:p>
            <a:pPr indent="0" lvl="0" marL="0" rtl="0" algn="l">
              <a:lnSpc>
                <a:spcPct val="115000"/>
              </a:lnSpc>
              <a:spcBef>
                <a:spcPts val="1200"/>
              </a:spcBef>
              <a:spcAft>
                <a:spcPts val="0"/>
              </a:spcAft>
              <a:buClr>
                <a:schemeClr val="dk1"/>
              </a:buClr>
              <a:buSzPct val="27500"/>
              <a:buFont typeface="Arial"/>
              <a:buNone/>
            </a:pPr>
            <a:r>
              <a:t/>
            </a:r>
            <a:endParaRPr sz="4000"/>
          </a:p>
          <a:p>
            <a:pPr indent="0" lvl="0" marL="0" rtl="0" algn="l">
              <a:lnSpc>
                <a:spcPct val="115000"/>
              </a:lnSpc>
              <a:spcBef>
                <a:spcPts val="1200"/>
              </a:spcBef>
              <a:spcAft>
                <a:spcPts val="0"/>
              </a:spcAft>
              <a:buClr>
                <a:schemeClr val="dk1"/>
              </a:buClr>
              <a:buSzPct val="27500"/>
              <a:buFont typeface="Arial"/>
              <a:buNone/>
            </a:pPr>
            <a:r>
              <a:rPr lang="en-IN" sz="4000"/>
              <a:t> 2) FPS?   FPS will be the same as Camera FPS.</a:t>
            </a:r>
            <a:endParaRPr sz="4000"/>
          </a:p>
          <a:p>
            <a:pPr indent="0" lvl="0" marL="0" rtl="0" algn="l">
              <a:lnSpc>
                <a:spcPct val="115000"/>
              </a:lnSpc>
              <a:spcBef>
                <a:spcPts val="1200"/>
              </a:spcBef>
              <a:spcAft>
                <a:spcPts val="0"/>
              </a:spcAft>
              <a:buClr>
                <a:schemeClr val="dk1"/>
              </a:buClr>
              <a:buSzPct val="27500"/>
              <a:buFont typeface="Arial"/>
              <a:buNone/>
            </a:pPr>
            <a:r>
              <a:t/>
            </a:r>
            <a:endParaRPr sz="4000"/>
          </a:p>
          <a:p>
            <a:pPr indent="0" lvl="0" marL="0" rtl="0" algn="l">
              <a:lnSpc>
                <a:spcPct val="115000"/>
              </a:lnSpc>
              <a:spcBef>
                <a:spcPts val="1200"/>
              </a:spcBef>
              <a:spcAft>
                <a:spcPts val="0"/>
              </a:spcAft>
              <a:buClr>
                <a:schemeClr val="dk1"/>
              </a:buClr>
              <a:buSzPct val="27500"/>
              <a:buFont typeface="Arial"/>
              <a:buNone/>
            </a:pPr>
            <a:r>
              <a:rPr lang="en-IN" sz="4000"/>
              <a:t>3) Why 2 Seconds?  it will not be exactly 2 seconds.  It will have around 2 I frames and  48 P or B frames.  If Camera has FPS 25 , then 2 Seconds Clips will have arooud 50  Frames with  2 I frames and 48 P or B frames    Also it will be configurable from 2 Second to  10 seconds Fragmented mp4.   Fragmented MP4 can be combined  when duration of motion clips are longer during publishing. Cost of buffering and storing longer duration Mp4  will be high,  so we are going for a smaller duration Mp4. </a:t>
            </a:r>
            <a:endParaRPr sz="4000"/>
          </a:p>
          <a:p>
            <a:pPr indent="0" lvl="0" marL="0" rtl="0" algn="l">
              <a:lnSpc>
                <a:spcPct val="115000"/>
              </a:lnSpc>
              <a:spcBef>
                <a:spcPts val="1200"/>
              </a:spcBef>
              <a:spcAft>
                <a:spcPts val="0"/>
              </a:spcAft>
              <a:buClr>
                <a:schemeClr val="dk1"/>
              </a:buClr>
              <a:buSzPct val="61110"/>
              <a:buFont typeface="Arial"/>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IN"/>
              <a:t>Configuration</a:t>
            </a:r>
            <a:endParaRPr/>
          </a:p>
        </p:txBody>
      </p:sp>
      <p:sp>
        <p:nvSpPr>
          <p:cNvPr id="140" name="Google Shape;140;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IN"/>
              <a:t>FPS -  RTSP FPS  5 -  25 will be best</a:t>
            </a:r>
            <a:endParaRPr/>
          </a:p>
          <a:p>
            <a:pPr indent="0" lvl="0" marL="0" rtl="0" algn="l">
              <a:lnSpc>
                <a:spcPct val="115000"/>
              </a:lnSpc>
              <a:spcBef>
                <a:spcPts val="1200"/>
              </a:spcBef>
              <a:spcAft>
                <a:spcPts val="0"/>
              </a:spcAft>
              <a:buSzPts val="1800"/>
              <a:buNone/>
            </a:pPr>
            <a:r>
              <a:rPr lang="en-IN"/>
              <a:t>Respective Area   (  this area will keep changing with resolution)  some factor value</a:t>
            </a:r>
            <a:endParaRPr/>
          </a:p>
          <a:p>
            <a:pPr indent="0" lvl="0" marL="0" rtl="0" algn="l">
              <a:lnSpc>
                <a:spcPct val="115000"/>
              </a:lnSpc>
              <a:spcBef>
                <a:spcPts val="1200"/>
              </a:spcBef>
              <a:spcAft>
                <a:spcPts val="0"/>
              </a:spcAft>
              <a:buSzPts val="1800"/>
              <a:buNone/>
            </a:pPr>
            <a:r>
              <a:rPr lang="en-IN"/>
              <a:t>Number of P frame changing   2-3 best   </a:t>
            </a:r>
            <a:endParaRPr/>
          </a:p>
          <a:p>
            <a:pPr indent="0" lvl="0" marL="0" rtl="0" algn="l">
              <a:lnSpc>
                <a:spcPct val="115000"/>
              </a:lnSpc>
              <a:spcBef>
                <a:spcPts val="1200"/>
              </a:spcBef>
              <a:spcAft>
                <a:spcPts val="0"/>
              </a:spcAft>
              <a:buSzPts val="1800"/>
              <a:buNone/>
            </a:pPr>
            <a:r>
              <a:rPr lang="en-IN"/>
              <a:t>Threshold      (     Signama of  MV[1-Area]   &gt; .05 )  P frame has motion      </a:t>
            </a:r>
            <a:endParaRPr/>
          </a:p>
          <a:p>
            <a:pPr indent="0" lvl="0" marL="0" rtl="0" algn="l">
              <a:lnSpc>
                <a:spcPct val="115000"/>
              </a:lnSpc>
              <a:spcBef>
                <a:spcPts val="1200"/>
              </a:spcBef>
              <a:spcAft>
                <a:spcPts val="1200"/>
              </a:spcAft>
              <a:buSzPts val="1800"/>
              <a:buNone/>
            </a:pPr>
            <a:r>
              <a:rPr lang="en-IN"/>
              <a:t>MV Al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50825"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IN"/>
              <a:t>MV</a:t>
            </a:r>
            <a:endParaRPr/>
          </a:p>
        </p:txBody>
      </p:sp>
      <p:pic>
        <p:nvPicPr>
          <p:cNvPr id="146" name="Google Shape;146;p25"/>
          <p:cNvPicPr preferRelativeResize="0"/>
          <p:nvPr/>
        </p:nvPicPr>
        <p:blipFill rotWithShape="1">
          <a:blip r:embed="rId3">
            <a:alphaModFix/>
          </a:blip>
          <a:srcRect b="0" l="0" r="0" t="0"/>
          <a:stretch/>
        </p:blipFill>
        <p:spPr>
          <a:xfrm>
            <a:off x="350825" y="816625"/>
            <a:ext cx="8205374" cy="45460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IN"/>
              <a:t>MV</a:t>
            </a:r>
            <a:endParaRPr/>
          </a:p>
        </p:txBody>
      </p:sp>
      <p:sp>
        <p:nvSpPr>
          <p:cNvPr id="152" name="Google Shape;152;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0"/>
              </a:spcBef>
              <a:spcAft>
                <a:spcPts val="0"/>
              </a:spcAft>
              <a:buClr>
                <a:schemeClr val="dk1"/>
              </a:buClr>
              <a:buSzPts val="275"/>
              <a:buFont typeface="Arial"/>
              <a:buNone/>
            </a:pPr>
            <a:r>
              <a:rPr lang="en-IN" sz="4600"/>
              <a:t>Motion Vector  will  be Vectors of  [ X1, Y1,  X2, Y2   D]   ( start and end point of coordinates )    Where D is Forward ( P or B Frame)  or Backward prediction( B Fame)    </a:t>
            </a:r>
            <a:endParaRPr sz="4600"/>
          </a:p>
          <a:p>
            <a:pPr indent="0" lvl="0" marL="0" rtl="0" algn="l">
              <a:lnSpc>
                <a:spcPct val="115000"/>
              </a:lnSpc>
              <a:spcBef>
                <a:spcPts val="1200"/>
              </a:spcBef>
              <a:spcAft>
                <a:spcPts val="0"/>
              </a:spcAft>
              <a:buClr>
                <a:schemeClr val="dk1"/>
              </a:buClr>
              <a:buSzPts val="275"/>
              <a:buFont typeface="Arial"/>
              <a:buNone/>
            </a:pPr>
            <a:r>
              <a:rPr lang="en-IN" sz="4600"/>
              <a:t> Motion Detection ( MD) Algorithms.   It will be a collection of MD algorithms. Which will return true or false.   Will be provided by Configurator( Chandra) as a Shared Object plugin. User can Add new Maskable area and Select MD algorithms with Rest APIs</a:t>
            </a:r>
            <a:endParaRPr sz="4600"/>
          </a:p>
          <a:p>
            <a:pPr indent="0" lvl="0" marL="0" rtl="0" algn="l">
              <a:lnSpc>
                <a:spcPct val="115000"/>
              </a:lnSpc>
              <a:spcBef>
                <a:spcPts val="1200"/>
              </a:spcBef>
              <a:spcAft>
                <a:spcPts val="0"/>
              </a:spcAft>
              <a:buClr>
                <a:schemeClr val="dk1"/>
              </a:buClr>
              <a:buSzPts val="275"/>
              <a:buFont typeface="Arial"/>
              <a:buNone/>
            </a:pPr>
            <a:r>
              <a:rPr lang="en-IN" sz="4600"/>
              <a:t>  </a:t>
            </a:r>
            <a:endParaRPr sz="4600"/>
          </a:p>
          <a:p>
            <a:pPr indent="0" lvl="0" marL="0" rtl="0" algn="l">
              <a:lnSpc>
                <a:spcPct val="115000"/>
              </a:lnSpc>
              <a:spcBef>
                <a:spcPts val="1200"/>
              </a:spcBef>
              <a:spcAft>
                <a:spcPts val="0"/>
              </a:spcAft>
              <a:buClr>
                <a:schemeClr val="dk1"/>
              </a:buClr>
              <a:buSzPts val="275"/>
              <a:buFont typeface="Arial"/>
              <a:buNone/>
            </a:pPr>
            <a:r>
              <a:rPr lang="en-IN" sz="4600"/>
              <a:t> bool  MD1(  Vectors of  [ X1, Y1,  X2, Y2   D]  ,  Polygon of  Masked Area )</a:t>
            </a:r>
            <a:endParaRPr sz="4600"/>
          </a:p>
          <a:p>
            <a:pPr indent="0" lvl="0" marL="0" rtl="0" algn="l">
              <a:lnSpc>
                <a:spcPct val="115000"/>
              </a:lnSpc>
              <a:spcBef>
                <a:spcPts val="1200"/>
              </a:spcBef>
              <a:spcAft>
                <a:spcPts val="0"/>
              </a:spcAft>
              <a:buClr>
                <a:schemeClr val="dk1"/>
              </a:buClr>
              <a:buSzPts val="275"/>
              <a:buFont typeface="Arial"/>
              <a:buNone/>
            </a:pPr>
            <a:r>
              <a:rPr lang="en-IN" sz="4600"/>
              <a:t>  {</a:t>
            </a:r>
            <a:endParaRPr sz="4600"/>
          </a:p>
          <a:p>
            <a:pPr indent="0" lvl="0" marL="0" rtl="0" algn="l">
              <a:lnSpc>
                <a:spcPct val="115000"/>
              </a:lnSpc>
              <a:spcBef>
                <a:spcPts val="1200"/>
              </a:spcBef>
              <a:spcAft>
                <a:spcPts val="0"/>
              </a:spcAft>
              <a:buSzPct val="156521"/>
              <a:buNone/>
            </a:pPr>
            <a:r>
              <a:rPr lang="en-IN" sz="4600"/>
              <a:t>              summation of  Vectors of  [ X1, Y1,  X2, Y2   D])  of  masked area </a:t>
            </a:r>
            <a:endParaRPr sz="4600"/>
          </a:p>
          <a:p>
            <a:pPr indent="0" lvl="0" marL="0" rtl="0" algn="l">
              <a:lnSpc>
                <a:spcPct val="115000"/>
              </a:lnSpc>
              <a:spcBef>
                <a:spcPts val="1200"/>
              </a:spcBef>
              <a:spcAft>
                <a:spcPts val="0"/>
              </a:spcAft>
              <a:buClr>
                <a:schemeClr val="dk1"/>
              </a:buClr>
              <a:buSzPts val="275"/>
              <a:buFont typeface="Arial"/>
              <a:buNone/>
            </a:pPr>
            <a:r>
              <a:rPr lang="en-IN" sz="4600"/>
              <a:t>Extracted motion vector is passed to process_frame() in MV Detector. Inside the function, the occupancy map is determined based on the motion vectors. The occupancy_map is 8x8 grid and deemed to be occupied when the motion vector originating the grid cell is found.</a:t>
            </a:r>
            <a:endParaRPr sz="4600"/>
          </a:p>
          <a:p>
            <a:pPr indent="0" lvl="0" marL="0" rtl="0" algn="l">
              <a:lnSpc>
                <a:spcPct val="115000"/>
              </a:lnSpc>
              <a:spcBef>
                <a:spcPts val="1200"/>
              </a:spcBef>
              <a:spcAft>
                <a:spcPts val="0"/>
              </a:spcAft>
              <a:buClr>
                <a:schemeClr val="dk1"/>
              </a:buClr>
              <a:buSzPts val="275"/>
              <a:buFont typeface="Arial"/>
              <a:buNone/>
            </a:pPr>
            <a:r>
              <a:rPr lang="en-IN" sz="4600"/>
              <a:t>  }</a:t>
            </a:r>
            <a:endParaRPr sz="4600"/>
          </a:p>
          <a:p>
            <a:pPr indent="0" lvl="0" marL="0" rtl="0" algn="l">
              <a:lnSpc>
                <a:spcPct val="115000"/>
              </a:lnSpc>
              <a:spcBef>
                <a:spcPts val="1200"/>
              </a:spcBef>
              <a:spcAft>
                <a:spcPts val="0"/>
              </a:spcAft>
              <a:buClr>
                <a:schemeClr val="dk1"/>
              </a:buClr>
              <a:buSzPts val="275"/>
              <a:buFont typeface="Arial"/>
              <a:buNone/>
            </a:pPr>
            <a:r>
              <a:rPr lang="en-IN" sz="4600"/>
              <a:t> </a:t>
            </a:r>
            <a:endParaRPr sz="4600"/>
          </a:p>
          <a:p>
            <a:pPr indent="0" lvl="0" marL="0" rtl="0" algn="l">
              <a:lnSpc>
                <a:spcPct val="115000"/>
              </a:lnSpc>
              <a:spcBef>
                <a:spcPts val="1200"/>
              </a:spcBef>
              <a:spcAft>
                <a:spcPts val="0"/>
              </a:spcAft>
              <a:buClr>
                <a:schemeClr val="dk1"/>
              </a:buClr>
              <a:buSzPts val="275"/>
              <a:buFont typeface="Arial"/>
              <a:buNone/>
            </a:pPr>
            <a:r>
              <a:rPr lang="en-IN" sz="4600"/>
              <a:t>  bool  MD2(  Vectors of  [ X1, Y1,  X2, Y2   D]  ,  Polygon of  Masked Area, Time T1 )</a:t>
            </a:r>
            <a:endParaRPr sz="4600"/>
          </a:p>
          <a:p>
            <a:pPr indent="0" lvl="0" marL="0" rtl="0" algn="l">
              <a:lnSpc>
                <a:spcPct val="115000"/>
              </a:lnSpc>
              <a:spcBef>
                <a:spcPts val="1200"/>
              </a:spcBef>
              <a:spcAft>
                <a:spcPts val="0"/>
              </a:spcAft>
              <a:buClr>
                <a:schemeClr val="dk1"/>
              </a:buClr>
              <a:buSzPts val="275"/>
              <a:buFont typeface="Arial"/>
              <a:buNone/>
            </a:pPr>
            <a:r>
              <a:rPr lang="en-IN" sz="4600"/>
              <a:t>  {</a:t>
            </a:r>
            <a:endParaRPr sz="4600"/>
          </a:p>
          <a:p>
            <a:pPr indent="0" lvl="0" marL="0" rtl="0" algn="l">
              <a:lnSpc>
                <a:spcPct val="115000"/>
              </a:lnSpc>
              <a:spcBef>
                <a:spcPts val="1200"/>
              </a:spcBef>
              <a:spcAft>
                <a:spcPts val="0"/>
              </a:spcAft>
              <a:buClr>
                <a:schemeClr val="dk1"/>
              </a:buClr>
              <a:buSzPts val="275"/>
              <a:buFont typeface="Arial"/>
              <a:buNone/>
            </a:pPr>
            <a:r>
              <a:rPr lang="en-IN" sz="4600"/>
              <a:t>              summation of  Vectors of  [ X1, Y1,  X2, Y2   D])  of  masked area  of T1</a:t>
            </a:r>
            <a:endParaRPr sz="4600"/>
          </a:p>
          <a:p>
            <a:pPr indent="0" lvl="0" marL="0" rtl="0" algn="l">
              <a:lnSpc>
                <a:spcPct val="115000"/>
              </a:lnSpc>
              <a:spcBef>
                <a:spcPts val="1200"/>
              </a:spcBef>
              <a:spcAft>
                <a:spcPts val="0"/>
              </a:spcAft>
              <a:buClr>
                <a:schemeClr val="dk1"/>
              </a:buClr>
              <a:buSzPts val="275"/>
              <a:buFont typeface="Arial"/>
              <a:buNone/>
            </a:pPr>
            <a:r>
              <a:rPr lang="en-IN" sz="4600"/>
              <a:t>  }</a:t>
            </a:r>
            <a:endParaRPr sz="4600"/>
          </a:p>
          <a:p>
            <a:pPr indent="0" lvl="0" marL="0" rtl="0" algn="l">
              <a:lnSpc>
                <a:spcPct val="115000"/>
              </a:lnSpc>
              <a:spcBef>
                <a:spcPts val="1200"/>
              </a:spcBef>
              <a:spcAft>
                <a:spcPts val="0"/>
              </a:spcAft>
              <a:buClr>
                <a:schemeClr val="dk1"/>
              </a:buClr>
              <a:buSzPts val="275"/>
              <a:buFont typeface="Arial"/>
              <a:buNone/>
            </a:pPr>
            <a:r>
              <a:t/>
            </a:r>
            <a:endParaRPr sz="4600"/>
          </a:p>
          <a:p>
            <a:pPr indent="0" lvl="0" marL="0" rtl="0" algn="l">
              <a:lnSpc>
                <a:spcPct val="115000"/>
              </a:lnSpc>
              <a:spcBef>
                <a:spcPts val="1200"/>
              </a:spcBef>
              <a:spcAft>
                <a:spcPts val="0"/>
              </a:spcAft>
              <a:buClr>
                <a:schemeClr val="dk1"/>
              </a:buClr>
              <a:buSzPts val="275"/>
              <a:buFont typeface="Arial"/>
              <a:buNone/>
            </a:pPr>
            <a:r>
              <a:t/>
            </a:r>
            <a:endParaRPr sz="4600"/>
          </a:p>
          <a:p>
            <a:pPr indent="0" lvl="0" marL="0" rtl="0" algn="l">
              <a:lnSpc>
                <a:spcPct val="115000"/>
              </a:lnSpc>
              <a:spcBef>
                <a:spcPts val="1200"/>
              </a:spcBef>
              <a:spcAft>
                <a:spcPts val="0"/>
              </a:spcAft>
              <a:buClr>
                <a:schemeClr val="dk1"/>
              </a:buClr>
              <a:buSzPts val="275"/>
              <a:buFont typeface="Arial"/>
              <a:buNone/>
            </a:pPr>
            <a:r>
              <a:rPr lang="en-IN" sz="4600"/>
              <a:t>   bool  MD3(  Vectors of  [ X1, Y1,  X2, Y2   D]  ,  Polygon of  Masked Area, Time T1 , Weight  w,  Threshold H)</a:t>
            </a:r>
            <a:endParaRPr sz="4600"/>
          </a:p>
          <a:p>
            <a:pPr indent="0" lvl="0" marL="0" rtl="0" algn="l">
              <a:lnSpc>
                <a:spcPct val="115000"/>
              </a:lnSpc>
              <a:spcBef>
                <a:spcPts val="1200"/>
              </a:spcBef>
              <a:spcAft>
                <a:spcPts val="0"/>
              </a:spcAft>
              <a:buClr>
                <a:schemeClr val="dk1"/>
              </a:buClr>
              <a:buSzPts val="275"/>
              <a:buFont typeface="Arial"/>
              <a:buNone/>
            </a:pPr>
            <a:r>
              <a:rPr lang="en-IN" sz="4600"/>
              <a:t>    {</a:t>
            </a:r>
            <a:endParaRPr sz="4600"/>
          </a:p>
          <a:p>
            <a:pPr indent="0" lvl="0" marL="0" rtl="0" algn="l">
              <a:lnSpc>
                <a:spcPct val="115000"/>
              </a:lnSpc>
              <a:spcBef>
                <a:spcPts val="1200"/>
              </a:spcBef>
              <a:spcAft>
                <a:spcPts val="0"/>
              </a:spcAft>
              <a:buClr>
                <a:schemeClr val="dk1"/>
              </a:buClr>
              <a:buSzPts val="275"/>
              <a:buFont typeface="Arial"/>
              <a:buNone/>
            </a:pPr>
            <a:r>
              <a:rPr lang="en-IN" sz="4600"/>
              <a:t>             (summation of  Vectors of  [ X1, Y1,  X2, Y2   D])  of  masked area  of T1  / W)    &gt;   H</a:t>
            </a:r>
            <a:endParaRPr sz="4600"/>
          </a:p>
          <a:p>
            <a:pPr indent="0" lvl="0" marL="0" rtl="0" algn="l">
              <a:lnSpc>
                <a:spcPct val="115000"/>
              </a:lnSpc>
              <a:spcBef>
                <a:spcPts val="1200"/>
              </a:spcBef>
              <a:spcAft>
                <a:spcPts val="0"/>
              </a:spcAft>
              <a:buClr>
                <a:schemeClr val="dk1"/>
              </a:buClr>
              <a:buSzPts val="275"/>
              <a:buFont typeface="Arial"/>
              <a:buNone/>
            </a:pPr>
            <a:r>
              <a:rPr lang="en-IN" sz="4600"/>
              <a:t>    }</a:t>
            </a:r>
            <a:endParaRPr sz="4600"/>
          </a:p>
          <a:p>
            <a:pPr indent="0" lvl="0" marL="0" rtl="0" algn="l">
              <a:lnSpc>
                <a:spcPct val="115000"/>
              </a:lnSpc>
              <a:spcBef>
                <a:spcPts val="1200"/>
              </a:spcBef>
              <a:spcAft>
                <a:spcPts val="0"/>
              </a:spcAft>
              <a:buClr>
                <a:schemeClr val="dk1"/>
              </a:buClr>
              <a:buSzPts val="275"/>
              <a:buFont typeface="Arial"/>
              <a:buNone/>
            </a:pPr>
            <a:r>
              <a:t/>
            </a:r>
            <a:endParaRPr sz="4600"/>
          </a:p>
          <a:p>
            <a:pPr indent="0" lvl="0" marL="0" rtl="0" algn="l">
              <a:lnSpc>
                <a:spcPct val="115000"/>
              </a:lnSpc>
              <a:spcBef>
                <a:spcPts val="1200"/>
              </a:spcBef>
              <a:spcAft>
                <a:spcPts val="0"/>
              </a:spcAft>
              <a:buClr>
                <a:schemeClr val="dk1"/>
              </a:buClr>
              <a:buSzPts val="275"/>
              <a:buFont typeface="Arial"/>
              <a:buNone/>
            </a:pPr>
            <a:r>
              <a:rPr lang="en-IN" sz="4600"/>
              <a:t>bool  MD4(  Vectors of  [ X1, Y1,  X2, Y2   D]  ,  Polygon of  Masked Area, Time T1 , Weight  w,  Threshold H)</a:t>
            </a:r>
            <a:endParaRPr sz="4600"/>
          </a:p>
          <a:p>
            <a:pPr indent="0" lvl="0" marL="0" rtl="0" algn="l">
              <a:lnSpc>
                <a:spcPct val="115000"/>
              </a:lnSpc>
              <a:spcBef>
                <a:spcPts val="1200"/>
              </a:spcBef>
              <a:spcAft>
                <a:spcPts val="0"/>
              </a:spcAft>
              <a:buClr>
                <a:schemeClr val="dk1"/>
              </a:buClr>
              <a:buSzPts val="275"/>
              <a:buFont typeface="Arial"/>
              <a:buNone/>
            </a:pPr>
            <a:r>
              <a:rPr lang="en-IN" sz="4600"/>
              <a:t>    {</a:t>
            </a:r>
            <a:endParaRPr sz="4600"/>
          </a:p>
          <a:p>
            <a:pPr indent="0" lvl="0" marL="0" rtl="0" algn="l">
              <a:lnSpc>
                <a:spcPct val="115000"/>
              </a:lnSpc>
              <a:spcBef>
                <a:spcPts val="1200"/>
              </a:spcBef>
              <a:spcAft>
                <a:spcPts val="0"/>
              </a:spcAft>
              <a:buClr>
                <a:schemeClr val="dk1"/>
              </a:buClr>
              <a:buSzPts val="275"/>
              <a:buFont typeface="Arial"/>
              <a:buNone/>
            </a:pPr>
            <a:r>
              <a:rPr lang="en-IN" sz="4600"/>
              <a:t>           MD1(...) &amp;&amp; MD2(...)</a:t>
            </a:r>
            <a:endParaRPr sz="4600"/>
          </a:p>
          <a:p>
            <a:pPr indent="0" lvl="0" marL="0" rtl="0" algn="l">
              <a:lnSpc>
                <a:spcPct val="115000"/>
              </a:lnSpc>
              <a:spcBef>
                <a:spcPts val="1200"/>
              </a:spcBef>
              <a:spcAft>
                <a:spcPts val="0"/>
              </a:spcAft>
              <a:buClr>
                <a:schemeClr val="dk1"/>
              </a:buClr>
              <a:buSzPts val="275"/>
              <a:buFont typeface="Arial"/>
              <a:buNone/>
            </a:pPr>
            <a:r>
              <a:rPr lang="en-IN" sz="4600"/>
              <a:t>    }</a:t>
            </a:r>
            <a:endParaRPr sz="4600"/>
          </a:p>
          <a:p>
            <a:pPr indent="0" lvl="0" marL="0" rtl="0" algn="l">
              <a:lnSpc>
                <a:spcPct val="115000"/>
              </a:lnSpc>
              <a:spcBef>
                <a:spcPts val="1200"/>
              </a:spcBef>
              <a:spcAft>
                <a:spcPts val="0"/>
              </a:spcAft>
              <a:buClr>
                <a:schemeClr val="dk1"/>
              </a:buClr>
              <a:buSzPts val="275"/>
              <a:buFont typeface="Arial"/>
              <a:buNone/>
            </a:pPr>
            <a:r>
              <a:t/>
            </a:r>
            <a:endParaRPr sz="4600"/>
          </a:p>
          <a:p>
            <a:pPr indent="0" lvl="0" marL="0" rtl="0" algn="l">
              <a:lnSpc>
                <a:spcPct val="115000"/>
              </a:lnSpc>
              <a:spcBef>
                <a:spcPts val="1200"/>
              </a:spcBef>
              <a:spcAft>
                <a:spcPts val="0"/>
              </a:spcAft>
              <a:buClr>
                <a:schemeClr val="dk1"/>
              </a:buClr>
              <a:buSzPts val="275"/>
              <a:buFont typeface="Arial"/>
              <a:buNone/>
            </a:pPr>
            <a:r>
              <a:rPr lang="en-IN" sz="4600"/>
              <a:t>      }</a:t>
            </a:r>
            <a:endParaRPr sz="4600"/>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IN" sz="1800">
                <a:solidFill>
                  <a:schemeClr val="dk2"/>
                </a:solidFill>
              </a:rPr>
              <a:t>We are planning to give a demo of Motion Detection in 2 phases.</a:t>
            </a:r>
            <a:endParaRPr sz="1800">
              <a:solidFill>
                <a:schemeClr val="dk2"/>
              </a:solidFill>
            </a:endParaRPr>
          </a:p>
          <a:p>
            <a:pPr indent="0" lvl="0" marL="0" rtl="0" algn="l">
              <a:lnSpc>
                <a:spcPct val="100000"/>
              </a:lnSpc>
              <a:spcBef>
                <a:spcPts val="1200"/>
              </a:spcBef>
              <a:spcAft>
                <a:spcPts val="0"/>
              </a:spcAft>
              <a:buSzPts val="2800"/>
              <a:buNone/>
            </a:pPr>
            <a:r>
              <a:t/>
            </a:r>
            <a:endParaRPr sz="1800">
              <a:solidFill>
                <a:schemeClr val="dk2"/>
              </a:solidFill>
            </a:endParaRPr>
          </a:p>
        </p:txBody>
      </p:sp>
      <p:sp>
        <p:nvSpPr>
          <p:cNvPr id="158" name="Google Shape;158;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0"/>
              </a:spcBef>
              <a:spcAft>
                <a:spcPts val="0"/>
              </a:spcAft>
              <a:buClr>
                <a:schemeClr val="dk1"/>
              </a:buClr>
              <a:buSzPct val="61110"/>
              <a:buFont typeface="Arial"/>
              <a:buNone/>
            </a:pPr>
            <a:r>
              <a:t/>
            </a:r>
            <a:endParaRPr/>
          </a:p>
          <a:p>
            <a:pPr indent="0" lvl="0" marL="0" rtl="0" algn="l">
              <a:lnSpc>
                <a:spcPct val="115000"/>
              </a:lnSpc>
              <a:spcBef>
                <a:spcPts val="1200"/>
              </a:spcBef>
              <a:spcAft>
                <a:spcPts val="0"/>
              </a:spcAft>
              <a:buClr>
                <a:schemeClr val="dk1"/>
              </a:buClr>
              <a:buSzPct val="32351"/>
              <a:buFont typeface="Arial"/>
              <a:buNone/>
            </a:pPr>
            <a:r>
              <a:rPr b="1" lang="en-IN" sz="3400"/>
              <a:t>Phase1 Demo . </a:t>
            </a:r>
            <a:endParaRPr b="1" sz="3400"/>
          </a:p>
          <a:p>
            <a:pPr indent="0" lvl="0" marL="0" rtl="0" algn="l">
              <a:lnSpc>
                <a:spcPct val="115000"/>
              </a:lnSpc>
              <a:spcBef>
                <a:spcPts val="1200"/>
              </a:spcBef>
              <a:spcAft>
                <a:spcPts val="0"/>
              </a:spcAft>
              <a:buClr>
                <a:schemeClr val="dk1"/>
              </a:buClr>
              <a:buSzPct val="32351"/>
              <a:buFont typeface="Arial"/>
              <a:buNone/>
            </a:pPr>
            <a:r>
              <a:rPr lang="en-IN" sz="3400"/>
              <a:t>  a) Motion Vector Extraction </a:t>
            </a:r>
            <a:endParaRPr sz="3400"/>
          </a:p>
          <a:p>
            <a:pPr indent="0" lvl="0" marL="0" rtl="0" algn="l">
              <a:lnSpc>
                <a:spcPct val="115000"/>
              </a:lnSpc>
              <a:spcBef>
                <a:spcPts val="1200"/>
              </a:spcBef>
              <a:spcAft>
                <a:spcPts val="0"/>
              </a:spcAft>
              <a:buClr>
                <a:schemeClr val="dk1"/>
              </a:buClr>
              <a:buSzPct val="32351"/>
              <a:buFont typeface="Arial"/>
              <a:buNone/>
            </a:pPr>
            <a:r>
              <a:rPr lang="en-IN" sz="3400"/>
              <a:t>  b) Motion Detection Events. </a:t>
            </a:r>
            <a:endParaRPr sz="3400"/>
          </a:p>
          <a:p>
            <a:pPr indent="0" lvl="0" marL="0" rtl="0" algn="l">
              <a:lnSpc>
                <a:spcPct val="115000"/>
              </a:lnSpc>
              <a:spcBef>
                <a:spcPts val="1200"/>
              </a:spcBef>
              <a:spcAft>
                <a:spcPts val="0"/>
              </a:spcAft>
              <a:buClr>
                <a:schemeClr val="dk1"/>
              </a:buClr>
              <a:buSzPct val="32351"/>
              <a:buFont typeface="Arial"/>
              <a:buNone/>
            </a:pPr>
            <a:r>
              <a:rPr lang="en-IN" sz="3400"/>
              <a:t>  c)  Fragmented FMP4 storage and streaming</a:t>
            </a:r>
            <a:endParaRPr sz="3400"/>
          </a:p>
          <a:p>
            <a:pPr indent="0" lvl="0" marL="0" rtl="0" algn="l">
              <a:lnSpc>
                <a:spcPct val="115000"/>
              </a:lnSpc>
              <a:spcBef>
                <a:spcPts val="1200"/>
              </a:spcBef>
              <a:spcAft>
                <a:spcPts val="0"/>
              </a:spcAft>
              <a:buSzPct val="211764"/>
              <a:buNone/>
            </a:pPr>
            <a:r>
              <a:rPr lang="en-IN" sz="3400"/>
              <a:t>   </a:t>
            </a:r>
            <a:endParaRPr sz="3400"/>
          </a:p>
          <a:p>
            <a:pPr indent="0" lvl="0" marL="0" rtl="0" algn="l">
              <a:lnSpc>
                <a:spcPct val="115000"/>
              </a:lnSpc>
              <a:spcBef>
                <a:spcPts val="1200"/>
              </a:spcBef>
              <a:spcAft>
                <a:spcPts val="0"/>
              </a:spcAft>
              <a:buClr>
                <a:schemeClr val="dk1"/>
              </a:buClr>
              <a:buSzPct val="32351"/>
              <a:buFont typeface="Arial"/>
              <a:buNone/>
            </a:pPr>
            <a:r>
              <a:rPr b="1" lang="en-IN" sz="3400"/>
              <a:t>Phase2 Demo. </a:t>
            </a:r>
            <a:endParaRPr b="1" sz="3400"/>
          </a:p>
          <a:p>
            <a:pPr indent="0" lvl="0" marL="0" rtl="0" algn="l">
              <a:lnSpc>
                <a:spcPct val="115000"/>
              </a:lnSpc>
              <a:spcBef>
                <a:spcPts val="1200"/>
              </a:spcBef>
              <a:spcAft>
                <a:spcPts val="0"/>
              </a:spcAft>
              <a:buClr>
                <a:schemeClr val="dk1"/>
              </a:buClr>
              <a:buSzPct val="32351"/>
              <a:buFont typeface="Arial"/>
              <a:buNone/>
            </a:pPr>
            <a:r>
              <a:rPr lang="en-IN" sz="3400"/>
              <a:t> a) Rest API for  Masking Area</a:t>
            </a:r>
            <a:endParaRPr sz="3400"/>
          </a:p>
          <a:p>
            <a:pPr indent="0" lvl="0" marL="0" rtl="0" algn="l">
              <a:lnSpc>
                <a:spcPct val="115000"/>
              </a:lnSpc>
              <a:spcBef>
                <a:spcPts val="1200"/>
              </a:spcBef>
              <a:spcAft>
                <a:spcPts val="0"/>
              </a:spcAft>
              <a:buClr>
                <a:schemeClr val="dk1"/>
              </a:buClr>
              <a:buSzPct val="32351"/>
              <a:buFont typeface="Arial"/>
              <a:buNone/>
            </a:pPr>
            <a:r>
              <a:rPr lang="en-IN" sz="3400"/>
              <a:t> b) Configuration of Motion Detection Algorithm </a:t>
            </a:r>
            <a:endParaRPr sz="3400"/>
          </a:p>
          <a:p>
            <a:pPr indent="0" lvl="0" marL="0" rtl="0" algn="l">
              <a:lnSpc>
                <a:spcPct val="115000"/>
              </a:lnSpc>
              <a:spcBef>
                <a:spcPts val="1200"/>
              </a:spcBef>
              <a:spcAft>
                <a:spcPts val="0"/>
              </a:spcAft>
              <a:buClr>
                <a:schemeClr val="dk1"/>
              </a:buClr>
              <a:buSzPct val="32351"/>
              <a:buFont typeface="Arial"/>
              <a:buNone/>
            </a:pPr>
            <a:r>
              <a:rPr lang="en-IN" sz="3400"/>
              <a:t> c)  Motion Detection form  Motion Vectors , Advance Algorithms ( Chandra  and team will provide advance algorithm) </a:t>
            </a:r>
            <a:endParaRPr sz="3400"/>
          </a:p>
          <a:p>
            <a:pPr indent="0" lvl="0" marL="0" rtl="0" algn="l">
              <a:lnSpc>
                <a:spcPct val="115000"/>
              </a:lnSpc>
              <a:spcBef>
                <a:spcPts val="1200"/>
              </a:spcBef>
              <a:spcAft>
                <a:spcPts val="0"/>
              </a:spcAft>
              <a:buSzPct val="211764"/>
              <a:buNone/>
            </a:pPr>
            <a:r>
              <a:rPr lang="en-IN" sz="3400"/>
              <a:t> d)  MP4 publishing  </a:t>
            </a:r>
            <a:endParaRPr sz="3400"/>
          </a:p>
          <a:p>
            <a:pPr indent="0" lvl="0" marL="0" rtl="0" algn="l">
              <a:lnSpc>
                <a:spcPct val="115000"/>
              </a:lnSpc>
              <a:spcBef>
                <a:spcPts val="1200"/>
              </a:spcBef>
              <a:spcAft>
                <a:spcPts val="0"/>
              </a:spcAft>
              <a:buClr>
                <a:schemeClr val="dk1"/>
              </a:buClr>
              <a:buSzPct val="32351"/>
              <a:buFont typeface="Arial"/>
              <a:buNone/>
            </a:pPr>
            <a:r>
              <a:rPr b="1" lang="en-IN" sz="3400"/>
              <a:t>Phase3 could be for patents and Provigil Algorithms</a:t>
            </a:r>
            <a:endParaRPr sz="3400"/>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IN"/>
              <a:t>Motion Event</a:t>
            </a:r>
            <a:endParaRPr/>
          </a:p>
        </p:txBody>
      </p:sp>
      <p:sp>
        <p:nvSpPr>
          <p:cNvPr id="164" name="Google Shape;164;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n-IN"/>
              <a:t>Triggers </a:t>
            </a:r>
            <a:endParaRPr/>
          </a:p>
          <a:p>
            <a:pPr indent="0" lvl="0" marL="0" rtl="0" algn="l">
              <a:lnSpc>
                <a:spcPct val="115000"/>
              </a:lnSpc>
              <a:spcBef>
                <a:spcPts val="1200"/>
              </a:spcBef>
              <a:spcAft>
                <a:spcPts val="0"/>
              </a:spcAft>
              <a:buClr>
                <a:schemeClr val="dk1"/>
              </a:buClr>
              <a:buSzPct val="61110"/>
              <a:buFont typeface="Arial"/>
              <a:buNone/>
            </a:pPr>
            <a:r>
              <a:rPr lang="en-IN"/>
              <a:t>Camera_ID_2022_02_22:04:04:02_3444</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Clr>
                <a:schemeClr val="dk1"/>
              </a:buClr>
              <a:buSzPct val="61110"/>
              <a:buFont typeface="Arial"/>
              <a:buNone/>
            </a:pPr>
            <a:r>
              <a:rPr lang="en-IN"/>
              <a:t>After an occupancy map for each frame is found, the average occupancy for last N frames is calculated. Which aims to reduce temporarily noise. The default value is set to 3 (MVDetector::DEFAULT_WINDOW_SIZE).</a:t>
            </a:r>
            <a:endParaRPr/>
          </a:p>
          <a:p>
            <a:pPr indent="0" lvl="0" marL="0" rtl="0" algn="l">
              <a:lnSpc>
                <a:spcPct val="115000"/>
              </a:lnSpc>
              <a:spcBef>
                <a:spcPts val="1200"/>
              </a:spcBef>
              <a:spcAft>
                <a:spcPts val="0"/>
              </a:spcAft>
              <a:buClr>
                <a:schemeClr val="dk1"/>
              </a:buClr>
              <a:buSzPct val="61110"/>
              <a:buFont typeface="Arial"/>
              <a:buNone/>
            </a:pPr>
            <a:r>
              <a:t/>
            </a:r>
            <a:endParaRPr/>
          </a:p>
          <a:p>
            <a:pPr indent="0" lvl="0" marL="0" rtl="0" algn="l">
              <a:lnSpc>
                <a:spcPct val="115000"/>
              </a:lnSpc>
              <a:spcBef>
                <a:spcPts val="1200"/>
              </a:spcBef>
              <a:spcAft>
                <a:spcPts val="0"/>
              </a:spcAft>
              <a:buClr>
                <a:schemeClr val="dk1"/>
              </a:buClr>
              <a:buSzPct val="61110"/>
              <a:buFont typeface="Arial"/>
              <a:buNone/>
            </a:pPr>
            <a:r>
              <a:rPr lang="en-IN"/>
              <a:t>At each frame the total number of grid in the occupancy map whose values is above a a threshold, currently defaulted to 0.6 (MVDetector::DEFAULT_LOCAL_OCCUPANCY_AVG_THRESHOLD), is counted. When this number is above a thredhold (DEFAULT_OCCUPANCY_THRESHOLD), the frame is finally decided to contain a movement`.</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1200"/>
              </a:spcAft>
              <a:buSzPct val="117647"/>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IN"/>
              <a:t>What is required for testing</a:t>
            </a:r>
            <a:endParaRPr/>
          </a:p>
        </p:txBody>
      </p:sp>
      <p:sp>
        <p:nvSpPr>
          <p:cNvPr id="170" name="Google Shape;170;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IN"/>
              <a:t>Need one or two cameras where motion happen at fixed interval</a:t>
            </a:r>
            <a:endParaRPr/>
          </a:p>
          <a:p>
            <a:pPr indent="0" lvl="0" marL="0" rtl="0" algn="l">
              <a:lnSpc>
                <a:spcPct val="115000"/>
              </a:lnSpc>
              <a:spcBef>
                <a:spcPts val="1200"/>
              </a:spcBef>
              <a:spcAft>
                <a:spcPts val="0"/>
              </a:spcAft>
              <a:buSzPts val="1800"/>
              <a:buNone/>
            </a:pPr>
            <a:r>
              <a:rPr lang="en-IN"/>
              <a:t> Cam1 with FPS 5  motion happen every one mins </a:t>
            </a:r>
            <a:endParaRPr/>
          </a:p>
          <a:p>
            <a:pPr indent="0" lvl="0" marL="0" rtl="0" algn="l">
              <a:lnSpc>
                <a:spcPct val="115000"/>
              </a:lnSpc>
              <a:spcBef>
                <a:spcPts val="1200"/>
              </a:spcBef>
              <a:spcAft>
                <a:spcPts val="0"/>
              </a:spcAft>
              <a:buSzPts val="1800"/>
              <a:buNone/>
            </a:pPr>
            <a:r>
              <a:rPr lang="en-IN"/>
              <a:t> Cam2 with FPS 25  motion happen every  2 mins</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n-IN"/>
              <a:t>Results </a:t>
            </a:r>
            <a:endParaRPr/>
          </a:p>
          <a:p>
            <a:pPr indent="0" lvl="0" marL="0" rtl="0" algn="l">
              <a:lnSpc>
                <a:spcPct val="115000"/>
              </a:lnSpc>
              <a:spcBef>
                <a:spcPts val="1200"/>
              </a:spcBef>
              <a:spcAft>
                <a:spcPts val="0"/>
              </a:spcAft>
              <a:buSzPts val="1800"/>
              <a:buNone/>
            </a:pPr>
            <a:r>
              <a:rPr lang="en-IN"/>
              <a:t> MP4 will have only  one second clip for one min</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IN"/>
              <a:t>Platform MDServer provides</a:t>
            </a:r>
            <a:endParaRPr/>
          </a:p>
        </p:txBody>
      </p:sp>
      <p:sp>
        <p:nvSpPr>
          <p:cNvPr id="176" name="Google Shape;176;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IN"/>
              <a:t>OpenCV will be provide for backward compatibility</a:t>
            </a:r>
            <a:endParaRPr/>
          </a:p>
          <a:p>
            <a:pPr indent="0" lvl="0" marL="0" rtl="0" algn="l">
              <a:lnSpc>
                <a:spcPct val="115000"/>
              </a:lnSpc>
              <a:spcBef>
                <a:spcPts val="1200"/>
              </a:spcBef>
              <a:spcAft>
                <a:spcPts val="0"/>
              </a:spcAft>
              <a:buSzPts val="1800"/>
              <a:buNone/>
            </a:pPr>
            <a:r>
              <a:rPr lang="en-IN"/>
              <a:t>MP4 clips </a:t>
            </a:r>
            <a:endParaRPr/>
          </a:p>
          <a:p>
            <a:pPr indent="0" lvl="0" marL="0" rtl="0" algn="l">
              <a:lnSpc>
                <a:spcPct val="115000"/>
              </a:lnSpc>
              <a:spcBef>
                <a:spcPts val="1200"/>
              </a:spcBef>
              <a:spcAft>
                <a:spcPts val="0"/>
              </a:spcAft>
              <a:buSzPts val="1800"/>
              <a:buNone/>
            </a:pPr>
            <a:r>
              <a:rPr lang="en-IN"/>
              <a:t>JSON DB </a:t>
            </a:r>
            <a:endParaRPr/>
          </a:p>
          <a:p>
            <a:pPr indent="0" lvl="0" marL="0" rtl="0" algn="l">
              <a:lnSpc>
                <a:spcPct val="115000"/>
              </a:lnSpc>
              <a:spcBef>
                <a:spcPts val="1200"/>
              </a:spcBef>
              <a:spcAft>
                <a:spcPts val="0"/>
              </a:spcAft>
              <a:buSzPts val="1800"/>
              <a:buNone/>
            </a:pPr>
            <a:r>
              <a:rPr lang="en-IN"/>
              <a:t>Rest API for configuration of MD, mask area and selection of MD algorithm </a:t>
            </a:r>
            <a:endParaRPr/>
          </a:p>
          <a:p>
            <a:pPr indent="0" lvl="0" marL="0" rtl="0" algn="l">
              <a:lnSpc>
                <a:spcPct val="115000"/>
              </a:lnSpc>
              <a:spcBef>
                <a:spcPts val="1200"/>
              </a:spcBef>
              <a:spcAft>
                <a:spcPts val="0"/>
              </a:spcAft>
              <a:buSzPts val="1800"/>
              <a:buNone/>
            </a:pPr>
            <a:r>
              <a:rPr lang="en-IN"/>
              <a:t>On the fly change of MD algorithm</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